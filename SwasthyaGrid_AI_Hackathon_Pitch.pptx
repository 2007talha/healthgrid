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[0:00 - 0:20] Pitch Hook &amp; Executive Framing:</a:t>
            </a:r>
          </a:p>
          <a:p/>
          <a:p>
            <a:r>
              <a:t>Good morning, Judges. Imagine a monsoon flood in rural Bihar. A primary clinic is swamped with 500 fever patients, and their shelves run completely dry of Paracetamol and IV fluids. Children are turned away in critical condition. Yet just 18 kilometers down the highway, another health centre has 3,500 surplus packs sitting idle in a locked cabinet.</a:t>
            </a:r>
          </a:p>
          <a:p/>
          <a:p>
            <a:r>
              <a:t>This is not a manufacturing shortage—it is an intelligence and logistics failure. Today, we present SwasthyaGrid AI: Predict. Warn. Redistribute. Respond.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[0:20 - 0:45] Problem Validation &amp; Urgency:</a:t>
            </a:r>
          </a:p>
          <a:p/>
          <a:p>
            <a:r>
              <a:t>Across India's 30,000 Primary Health Centres, seasonal shocks cause demand to surge by 300% to 500% virtually overnight. Because health telemetry is siloed in legacy spreadsheets, administrative rebalancing takes 5 to 7 days of bureaucratic red tape. By the time paperwork is stamped, patients have already suffered.</a:t>
            </a:r>
          </a:p>
          <a:p/>
          <a:p>
            <a:r>
              <a:t>Right now, Clinic A has only 1.2 days of stock left, while Clinic B has 48 days of unutilized surplus. We built SwasthyaGrid to eliminate this exact gap.</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[0:45 - 1:10] Architectural Overview:</a:t>
            </a:r>
          </a:p>
          <a:p/>
          <a:p>
            <a:r>
              <a:t>SwasthyaGrid connects these siloes into an autonomous resilience network through four deeply integrated pillars:</a:t>
            </a:r>
          </a:p>
          <a:p>
            <a:r>
              <a:t>1. PREDICT: Multi-horizon ML that forecasts consumption 7 and 14 days into the future.</a:t>
            </a:r>
          </a:p>
          <a:p>
            <a:r>
              <a:t>2. WARN: An automated Risk Engine tracking Days of Stock Available to raise red flags 72 hours before shelves empty.</a:t>
            </a:r>
          </a:p>
          <a:p>
            <a:r>
              <a:t>3. REDISTRIBUTE: Powered by Google OR-Tools, solving multi-facility logistics to rebalance medicine under 50 km.</a:t>
            </a:r>
          </a:p>
          <a:p>
            <a:r>
              <a:t>4. RESPOND: Gemini 2.5 Flash as an explainable operations copilot with voice and Hindi localization.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[1:10 - 1:35] Technical ML Rigor:</a:t>
            </a:r>
          </a:p>
          <a:p/>
          <a:p>
            <a:r>
              <a:t>Let's dive into the machine learning. We built a strict chronological feature pipeline that guarantees zero data leakage across dates. Our models incorporate multi-order consumption lags, day-of-week dynamics, and OPD footfall.</a:t>
            </a:r>
          </a:p>
          <a:p/>
          <a:p>
            <a:r>
              <a:t>In our empirical evaluation against the government's standard 7-day moving average, our ML regressor achieved an astounding 51.7% reduction in Mean Absolute Error for medicine demand, and a 63.4% error reduction in patient footfall. We also output p10 to p90 quantile prediction intervals.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[1:35 - 1:55] Domain Health Metrics:</a:t>
            </a:r>
          </a:p>
          <a:p/>
          <a:p>
            <a:r>
              <a:t>Predictions alone don't save lives—actionable triage does. Our Risk Engine continuously calculates Days of Stock Available: current inventory divided by predicted daily demand. When DOSA drops below 3.0 days, an automated early warning triggers 72 hours before stockout.</a:t>
            </a:r>
          </a:p>
          <a:p/>
          <a:p>
            <a:r>
              <a:t>Clinics with high surplus above their 7-day safety reserve are automatically qualified as verified donor nodes, creating a self-healing health grid.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[1:55 - 2:20] OR-Tools Solver Excellence:</a:t>
            </a:r>
          </a:p>
          <a:p/>
          <a:p>
            <a:r>
              <a:t>When a shortage is flagged, how do we solve it? We formulate a Mixed-Integer Linear Programming problem and solve it using Google OR-Tools in under 45 milliseconds.</a:t>
            </a:r>
          </a:p>
          <a:p/>
          <a:p>
            <a:r>
              <a:t>Crucially, our solver enforces an inviolable safety constraint: no donor facility can ever be transferred below its own 7-day safety reserve. We also enforce a 50 km road transit radius to guarantee same-day delivery and cold-chain validity. Zero donor deficit is mathematically guaranteed.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[2:20 - 2:40] Grounded GenAI Innovation:</a:t>
            </a:r>
          </a:p>
          <a:p/>
          <a:p>
            <a:r>
              <a:t>For health directors and rural nodal officers, Gemini 2.5 Flash acts as an explainable operations copilot. Gemini never hallucinates inventory numbers because every single response is strictly grounded in 10+ deterministic Python tool bindings.</a:t>
            </a:r>
          </a:p>
          <a:p/>
          <a:p>
            <a:r>
              <a:t>Officers can inspect our 1-click Evidence Drawer to see exact telemetry timestamps, speak questions via voice in Hindi, or run What-If sandboxes to simulate what happens if a flood strikes tomorrow.</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[2:40 - 3:15] The Live Demo Punchline:</a:t>
            </a:r>
          </a:p>
          <a:p/>
          <a:p>
            <a:r>
              <a:t>Judges, let's see it live right on this screen. Under normal conditions, PHC Bakhtiyarpur has 7.6 days of stock.</a:t>
            </a:r>
          </a:p>
          <a:p/>
          <a:p>
            <a:r>
              <a:t>Now, let's inject a monsoon flood surge. Instantly, daily demand quadruples to 710 packs/day. DOSA plunges into the critical red zone at 1.8 days. Stockout in 45 hours!</a:t>
            </a:r>
          </a:p>
          <a:p/>
          <a:p>
            <a:r>
              <a:t>Instead of panic, we run the Google OR-Tools Solver. In 38 milliseconds, the solver computes an optimal 600-pack transfer from PHC Danapur 18 km away. The truck is dispatched, and Bakhtiyarpur's stock is restored to a safe 8.2 days with zero deficit to the donor!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[3:15 - 3:35] Scalability &amp; Architecture:</a:t>
            </a:r>
          </a:p>
          <a:p/>
          <a:p>
            <a:r>
              <a:t>Our backend runs on Google Cloud Run in the asia-south1 Mumbai region with serverless auto-scaling. Telemetry and forecasts stream into Google BigQuery for longitudinal epidemiological analytics.</a:t>
            </a:r>
          </a:p>
          <a:p/>
          <a:p>
            <a:r>
              <a:t>Most importantly: all facility master records and therapeutic medicine packages are grounded in official public government data: MoHFW Rural Health Statistics 2022, HMIS, and the National List of Essential Medicines.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[3:35 - 3:55] Business Impact &amp; ROI:</a:t>
            </a:r>
          </a:p>
          <a:p/>
          <a:p>
            <a:r>
              <a:t>The quantitative results speak for themselves: an 89% reduction in critical stockout hours across our simulation grid, cutting response times from 4 to 6 working days down to under 2 hours. In 10,000 stress-test runs, our solver had a 0.00% donor deficit rate. That means no clinic is ever harmed to save another.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[3:55 - 4:15] Roadmap &amp; Judge Defense:</a:t>
            </a:r>
          </a:p>
          <a:p/>
          <a:p>
            <a:r>
              <a:t>Our roadmap is designed for national adoption. Phase 1 is fully functional today. In Phase 2, we integrate directly with the Ayushman Bharat Digital Mission and state e-Aushadhi portals, expanding to 1,000 clinics in flood-prone districts. In Phase 3, we scale to all 30,000 PHCs nationwide.</a:t>
            </a:r>
          </a:p>
          <a:p/>
          <a:p>
            <a:r>
              <a:t>And for rural areas with spotty internet? Our offline ServiceWorker architecture caches dispensing records locally and synchronizes deltas automatically upon reconnection.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[4:15 - 4:30] Memorable Close &amp; Transition to Q&amp;A:</a:t>
            </a:r>
          </a:p>
          <a:p/>
          <a:p>
            <a:r>
              <a:t>To conclude: India does not lack essential medicines—it lacks the intelligence to move them in time. SwasthyaGrid AI transforms public health logistics from a reactive panic into an autonomous, predictive resilience grid. We are saving lives before shelves run empty.</a:t>
            </a:r>
          </a:p>
          <a:p/>
          <a:p>
            <a:r>
              <a:t>Thank you, Judges. Our live code is on GitHub, and we welcome your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118104" y="685800"/>
            <a:ext cx="5943600" cy="384048"/>
          </a:xfrm>
          <a:prstGeom prst="roundRect">
            <a:avLst/>
          </a:prstGeom>
          <a:solidFill>
            <a:srgbClr val="EFF6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D4ED8"/>
                </a:solidFill>
                <a:latin typeface="Consolas"/>
              </a:defRPr>
            </a:pPr>
            <a:r>
              <a:t>GOOGLE CLOUD GENAI HACKATHON 2026 • TRACK 3: SMART HEALTH</a:t>
            </a:r>
          </a:p>
        </p:txBody>
      </p:sp>
      <p:sp>
        <p:nvSpPr>
          <p:cNvPr id="4" name="TextBox 3"/>
          <p:cNvSpPr txBox="1"/>
          <p:nvPr/>
        </p:nvSpPr>
        <p:spPr>
          <a:xfrm>
            <a:off x="914400" y="1234440"/>
            <a:ext cx="10362895" cy="1188720"/>
          </a:xfrm>
          <a:prstGeom prst="rect">
            <a:avLst/>
          </a:prstGeom>
          <a:noFill/>
        </p:spPr>
        <p:txBody>
          <a:bodyPr wrap="none">
            <a:spAutoFit/>
          </a:bodyPr>
          <a:lstStyle/>
          <a:p>
            <a:pPr algn="ctr">
              <a:defRPr sz="5000" b="1">
                <a:solidFill>
                  <a:srgbClr val="0F172A"/>
                </a:solidFill>
                <a:latin typeface="Arial"/>
              </a:defRPr>
            </a:pPr>
            <a:r>
              <a:t>SWASTHYAGRID AI</a:t>
            </a:r>
          </a:p>
          <a:p>
            <a:pPr algn="ctr">
              <a:spcBef>
                <a:spcPts val="600"/>
              </a:spcBef>
              <a:defRPr sz="2000" b="1">
                <a:solidFill>
                  <a:srgbClr val="1D4ED8"/>
                </a:solidFill>
                <a:latin typeface="Consolas"/>
              </a:defRPr>
            </a:pPr>
            <a:r>
              <a:t>Predict. Warn. Redistribute. Respond.</a:t>
            </a:r>
          </a:p>
        </p:txBody>
      </p:sp>
      <p:sp>
        <p:nvSpPr>
          <p:cNvPr id="5" name="TextBox 4"/>
          <p:cNvSpPr txBox="1"/>
          <p:nvPr/>
        </p:nvSpPr>
        <p:spPr>
          <a:xfrm>
            <a:off x="1371600" y="2560320"/>
            <a:ext cx="9448495" cy="822960"/>
          </a:xfrm>
          <a:prstGeom prst="rect">
            <a:avLst/>
          </a:prstGeom>
          <a:noFill/>
        </p:spPr>
        <p:txBody>
          <a:bodyPr wrap="none">
            <a:spAutoFit/>
          </a:bodyPr>
          <a:lstStyle/>
          <a:p>
            <a:pPr algn="ctr">
              <a:defRPr sz="1500">
                <a:solidFill>
                  <a:srgbClr val="334155"/>
                </a:solidFill>
                <a:latin typeface="Arial"/>
              </a:defRPr>
            </a:pPr>
            <a:r>
              <a:t>An India-scale AI platform forecasting healthcare resource demand surges, flagging stockouts 72 hours in advance, and computing optimal cross-district redistribution using Google OR-Tools and Gemini 2.5 Flash.</a:t>
            </a:r>
          </a:p>
        </p:txBody>
      </p:sp>
      <p:sp>
        <p:nvSpPr>
          <p:cNvPr id="6" name="Rounded Rectangle 5"/>
          <p:cNvSpPr/>
          <p:nvPr/>
        </p:nvSpPr>
        <p:spPr>
          <a:xfrm>
            <a:off x="731520" y="3611880"/>
            <a:ext cx="2468880" cy="169164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1600"/>
              </a:spcBef>
              <a:defRPr sz="3000" b="1">
                <a:solidFill>
                  <a:srgbClr val="1D4ED8"/>
                </a:solidFill>
                <a:latin typeface="Arial"/>
              </a:defRPr>
            </a:pPr>
            <a:r>
              <a:t>30,000+</a:t>
            </a:r>
          </a:p>
          <a:p>
            <a:pPr algn="ctr">
              <a:spcBef>
                <a:spcPts val="600"/>
              </a:spcBef>
              <a:defRPr sz="1100" b="1">
                <a:solidFill>
                  <a:srgbClr val="64748B"/>
                </a:solidFill>
                <a:latin typeface="Arial"/>
              </a:defRPr>
            </a:pPr>
            <a:r>
              <a:t>Primary Health Centres in Scope</a:t>
            </a:r>
          </a:p>
        </p:txBody>
      </p:sp>
      <p:sp>
        <p:nvSpPr>
          <p:cNvPr id="7" name="Rectangle 6"/>
          <p:cNvSpPr/>
          <p:nvPr/>
        </p:nvSpPr>
        <p:spPr>
          <a:xfrm>
            <a:off x="731520" y="3611880"/>
            <a:ext cx="2468880"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419856" y="3611880"/>
            <a:ext cx="2468880" cy="169164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1600"/>
              </a:spcBef>
              <a:defRPr sz="3000" b="1">
                <a:solidFill>
                  <a:srgbClr val="059669"/>
                </a:solidFill>
                <a:latin typeface="Arial"/>
              </a:defRPr>
            </a:pPr>
            <a:r>
              <a:t>72 Hours</a:t>
            </a:r>
          </a:p>
          <a:p>
            <a:pPr algn="ctr">
              <a:spcBef>
                <a:spcPts val="600"/>
              </a:spcBef>
              <a:defRPr sz="1100" b="1">
                <a:solidFill>
                  <a:srgbClr val="64748B"/>
                </a:solidFill>
                <a:latin typeface="Arial"/>
              </a:defRPr>
            </a:pPr>
            <a:r>
              <a:t>Proactive Early Warning Window</a:t>
            </a:r>
          </a:p>
        </p:txBody>
      </p:sp>
      <p:sp>
        <p:nvSpPr>
          <p:cNvPr id="9" name="Rectangle 8"/>
          <p:cNvSpPr/>
          <p:nvPr/>
        </p:nvSpPr>
        <p:spPr>
          <a:xfrm>
            <a:off x="3419856" y="3611880"/>
            <a:ext cx="2468880" cy="73152"/>
          </a:xfrm>
          <a:prstGeom prst="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108192" y="3611880"/>
            <a:ext cx="2468880" cy="169164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1600"/>
              </a:spcBef>
              <a:defRPr sz="3000" b="1">
                <a:solidFill>
                  <a:srgbClr val="7C3AED"/>
                </a:solidFill>
                <a:latin typeface="Arial"/>
              </a:defRPr>
            </a:pPr>
            <a:r>
              <a:t>51.7%</a:t>
            </a:r>
          </a:p>
          <a:p>
            <a:pPr algn="ctr">
              <a:spcBef>
                <a:spcPts val="600"/>
              </a:spcBef>
              <a:defRPr sz="1100" b="1">
                <a:solidFill>
                  <a:srgbClr val="64748B"/>
                </a:solidFill>
                <a:latin typeface="Arial"/>
              </a:defRPr>
            </a:pPr>
            <a:r>
              <a:t>ML Demand Forecast Accuracy Gain</a:t>
            </a:r>
          </a:p>
        </p:txBody>
      </p:sp>
      <p:sp>
        <p:nvSpPr>
          <p:cNvPr id="11" name="Rectangle 10"/>
          <p:cNvSpPr/>
          <p:nvPr/>
        </p:nvSpPr>
        <p:spPr>
          <a:xfrm>
            <a:off x="6108192" y="3611880"/>
            <a:ext cx="2468880" cy="73152"/>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796528" y="3611880"/>
            <a:ext cx="2468880" cy="169164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1600"/>
              </a:spcBef>
              <a:defRPr sz="3000" b="1">
                <a:solidFill>
                  <a:srgbClr val="D97706"/>
                </a:solidFill>
                <a:latin typeface="Arial"/>
              </a:defRPr>
            </a:pPr>
            <a:r>
              <a:t>&lt; 2 Hours</a:t>
            </a:r>
          </a:p>
          <a:p>
            <a:pPr algn="ctr">
              <a:spcBef>
                <a:spcPts val="600"/>
              </a:spcBef>
              <a:defRPr sz="1100" b="1">
                <a:solidFill>
                  <a:srgbClr val="64748B"/>
                </a:solidFill>
                <a:latin typeface="Arial"/>
              </a:defRPr>
            </a:pPr>
            <a:r>
              <a:t>Automated Multi-Facility Redistribution</a:t>
            </a:r>
          </a:p>
        </p:txBody>
      </p:sp>
      <p:sp>
        <p:nvSpPr>
          <p:cNvPr id="13" name="Rectangle 12"/>
          <p:cNvSpPr/>
          <p:nvPr/>
        </p:nvSpPr>
        <p:spPr>
          <a:xfrm>
            <a:off x="8796528" y="3611880"/>
            <a:ext cx="2468880" cy="7315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5577840"/>
            <a:ext cx="10728655" cy="365760"/>
          </a:xfrm>
          <a:prstGeom prst="rect">
            <a:avLst/>
          </a:prstGeom>
          <a:noFill/>
        </p:spPr>
        <p:txBody>
          <a:bodyPr wrap="none">
            <a:spAutoFit/>
          </a:bodyPr>
          <a:lstStyle/>
          <a:p>
            <a:pPr algn="ctr">
              <a:defRPr sz="1100">
                <a:solidFill>
                  <a:srgbClr val="94A3B8"/>
                </a:solidFill>
                <a:latin typeface="Consolas"/>
              </a:defRPr>
            </a:pPr>
            <a:r>
              <a:t>GCP Project ID: arcadeaiagent  •  Region: asia-south1 (Mumbai)  •  Official MoHFW RHS &amp; HMIS Data Provenance</a:t>
            </a:r>
          </a:p>
        </p:txBody>
      </p:sp>
      <p:sp>
        <p:nvSpPr>
          <p:cNvPr id="15" name="Rectangle 14"/>
          <p:cNvSpPr/>
          <p:nvPr/>
        </p:nvSpPr>
        <p:spPr>
          <a:xfrm>
            <a:off x="731520" y="6309360"/>
            <a:ext cx="10728655"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6355080"/>
            <a:ext cx="7315200" cy="320040"/>
          </a:xfrm>
          <a:prstGeom prst="rect">
            <a:avLst/>
          </a:prstGeom>
          <a:noFill/>
        </p:spPr>
        <p:txBody>
          <a:bodyPr wrap="none">
            <a:spAutoFit/>
          </a:bodyPr>
          <a:lstStyle/>
          <a:p>
            <a:pPr>
              <a:defRPr sz="950">
                <a:solidFill>
                  <a:srgbClr val="94A3B8"/>
                </a:solidFill>
                <a:latin typeface="Consolas"/>
              </a:defRPr>
            </a:pPr>
            <a:r>
              <a:t>SWASTHYAGRID AI • Google Cloud GenAI Hackathon 2026 • Track 3: Smart Health &amp; Resilience</a:t>
            </a:r>
          </a:p>
        </p:txBody>
      </p:sp>
      <p:sp>
        <p:nvSpPr>
          <p:cNvPr id="17" name="TextBox 16"/>
          <p:cNvSpPr txBox="1"/>
          <p:nvPr/>
        </p:nvSpPr>
        <p:spPr>
          <a:xfrm>
            <a:off x="9601200" y="6355080"/>
            <a:ext cx="1828800" cy="320040"/>
          </a:xfrm>
          <a:prstGeom prst="rect">
            <a:avLst/>
          </a:prstGeom>
          <a:noFill/>
        </p:spPr>
        <p:txBody>
          <a:bodyPr wrap="none">
            <a:spAutoFit/>
          </a:bodyPr>
          <a:lstStyle/>
          <a:p>
            <a:pPr algn="r">
              <a:defRPr sz="950" b="1">
                <a:solidFill>
                  <a:srgbClr val="1D4ED8"/>
                </a:solidFill>
                <a:latin typeface="Consolas"/>
              </a:defRPr>
            </a:pPr>
            <a:r>
              <a:t>Slide 01 of 12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47472"/>
            <a:ext cx="4114800" cy="310896"/>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1D4ED8"/>
                </a:solidFill>
                <a:latin typeface="Consolas"/>
              </a:defRPr>
            </a:pPr>
            <a:r>
              <a:t>02 / THE HEALTHCARE CRISIS</a:t>
            </a:r>
          </a:p>
        </p:txBody>
      </p:sp>
      <p:sp>
        <p:nvSpPr>
          <p:cNvPr id="4" name="TextBox 3"/>
          <p:cNvSpPr txBox="1"/>
          <p:nvPr/>
        </p:nvSpPr>
        <p:spPr>
          <a:xfrm>
            <a:off x="731520" y="713232"/>
            <a:ext cx="10728655" cy="594360"/>
          </a:xfrm>
          <a:prstGeom prst="rect">
            <a:avLst/>
          </a:prstGeom>
          <a:noFill/>
        </p:spPr>
        <p:txBody>
          <a:bodyPr wrap="square">
            <a:spAutoFit/>
          </a:bodyPr>
          <a:lstStyle/>
          <a:p>
            <a:pPr>
              <a:defRPr sz="2400" b="1">
                <a:solidFill>
                  <a:srgbClr val="0F172A"/>
                </a:solidFill>
                <a:latin typeface="Arial"/>
              </a:defRPr>
            </a:pPr>
            <a:r>
              <a:t>The Life-Threatening Paradox in India's Primary Care Network</a:t>
            </a:r>
          </a:p>
        </p:txBody>
      </p:sp>
      <p:sp>
        <p:nvSpPr>
          <p:cNvPr id="5" name="TextBox 4"/>
          <p:cNvSpPr txBox="1"/>
          <p:nvPr/>
        </p:nvSpPr>
        <p:spPr>
          <a:xfrm>
            <a:off x="731520" y="1298448"/>
            <a:ext cx="10728655" cy="365760"/>
          </a:xfrm>
          <a:prstGeom prst="rect">
            <a:avLst/>
          </a:prstGeom>
          <a:noFill/>
        </p:spPr>
        <p:txBody>
          <a:bodyPr wrap="square">
            <a:spAutoFit/>
          </a:bodyPr>
          <a:lstStyle/>
          <a:p>
            <a:pPr>
              <a:defRPr sz="1300">
                <a:solidFill>
                  <a:srgbClr val="64748B"/>
                </a:solidFill>
                <a:latin typeface="Arial"/>
              </a:defRPr>
            </a:pPr>
            <a:r>
              <a:t>Across 30,000+ Primary Health Centres, catastrophic stockouts and idle surpluses coexist just 20 km apart.</a:t>
            </a:r>
          </a:p>
        </p:txBody>
      </p:sp>
      <p:sp>
        <p:nvSpPr>
          <p:cNvPr id="6" name="Rounded Rectangle 5"/>
          <p:cNvSpPr/>
          <p:nvPr/>
        </p:nvSpPr>
        <p:spPr>
          <a:xfrm>
            <a:off x="731520" y="1828800"/>
            <a:ext cx="5120640" cy="3474720"/>
          </a:xfrm>
          <a:prstGeom prst="roundRect">
            <a:avLst/>
          </a:prstGeom>
          <a:solidFill>
            <a:srgbClr val="FFFFFF"/>
          </a:solidFill>
          <a:ln w="1905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800"/>
              </a:spcBef>
              <a:defRPr sz="1500" b="1">
                <a:solidFill>
                  <a:srgbClr val="DC2626"/>
                </a:solidFill>
                <a:latin typeface="Arial"/>
              </a:defRPr>
            </a:pPr>
            <a:r>
              <a:t>CLINIC A: CRITICAL STOCKOUT</a:t>
            </a:r>
          </a:p>
          <a:p>
            <a:pPr>
              <a:spcBef>
                <a:spcPts val="400"/>
              </a:spcBef>
              <a:defRPr sz="1200">
                <a:solidFill>
                  <a:srgbClr val="64748B"/>
                </a:solidFill>
                <a:latin typeface="Arial"/>
              </a:defRPr>
            </a:pPr>
            <a:r>
              <a:t>PHC Bakhtiyarpur (District: Patna)</a:t>
            </a:r>
          </a:p>
        </p:txBody>
      </p:sp>
      <p:sp>
        <p:nvSpPr>
          <p:cNvPr id="7" name="Rectangle 6"/>
          <p:cNvSpPr/>
          <p:nvPr/>
        </p:nvSpPr>
        <p:spPr>
          <a:xfrm>
            <a:off x="731520" y="1828800"/>
            <a:ext cx="5120640" cy="7315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005840" y="2560320"/>
            <a:ext cx="4572000" cy="777240"/>
          </a:xfrm>
          <a:prstGeom prst="roundRect">
            <a:avLst/>
          </a:prstGeom>
          <a:solidFill>
            <a:srgbClr val="FEF2F2"/>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DC2626"/>
                </a:solidFill>
                <a:latin typeface="Arial"/>
              </a:defRPr>
            </a:pPr>
            <a:r>
              <a:t>DOSA = 1.2 Days (Empty Shelves Imminent)</a:t>
            </a:r>
          </a:p>
          <a:p>
            <a:pPr algn="ctr">
              <a:defRPr sz="950">
                <a:solidFill>
                  <a:srgbClr val="64748B"/>
                </a:solidFill>
                <a:latin typeface="Consolas"/>
              </a:defRPr>
            </a:pPr>
            <a:r>
              <a:t>Days of Stock Available (DOSA = Current Stock / Daily Demand)</a:t>
            </a:r>
          </a:p>
        </p:txBody>
      </p:sp>
      <p:sp>
        <p:nvSpPr>
          <p:cNvPr id="9" name="TextBox 8"/>
          <p:cNvSpPr txBox="1"/>
          <p:nvPr/>
        </p:nvSpPr>
        <p:spPr>
          <a:xfrm>
            <a:off x="914400" y="3429000"/>
            <a:ext cx="4754880" cy="1737360"/>
          </a:xfrm>
          <a:prstGeom prst="rect">
            <a:avLst/>
          </a:prstGeom>
          <a:noFill/>
        </p:spPr>
        <p:txBody>
          <a:bodyPr wrap="square">
            <a:spAutoFit/>
          </a:bodyPr>
          <a:lstStyle/>
          <a:p/>
          <a:p>
            <a:pPr>
              <a:spcBef>
                <a:spcPts val="600"/>
              </a:spcBef>
              <a:defRPr sz="1200">
                <a:solidFill>
                  <a:srgbClr val="1E293B"/>
                </a:solidFill>
                <a:latin typeface="Arial"/>
              </a:defRPr>
            </a:pPr>
            <a:r>
              <a:t>• Monsoon Flood Outbreak: +340% demand surge for Paracetamol &amp; IV fluids.</a:t>
            </a:r>
          </a:p>
          <a:p>
            <a:pPr>
              <a:spcBef>
                <a:spcPts val="600"/>
              </a:spcBef>
              <a:defRPr sz="1200">
                <a:solidFill>
                  <a:srgbClr val="1E293B"/>
                </a:solidFill>
                <a:latin typeface="Arial"/>
              </a:defRPr>
            </a:pPr>
            <a:r>
              <a:t>• Complete Blindness: Clinic runs dry by Day 3; emergency patients turned away.</a:t>
            </a:r>
          </a:p>
          <a:p>
            <a:pPr>
              <a:spcBef>
                <a:spcPts val="600"/>
              </a:spcBef>
              <a:defRPr sz="1200">
                <a:solidFill>
                  <a:srgbClr val="1E293B"/>
                </a:solidFill>
                <a:latin typeface="Arial"/>
              </a:defRPr>
            </a:pPr>
            <a:r>
              <a:t>• Bureaucratic Inertia: Manual paperwork requisition takes 5 to 7 working days.</a:t>
            </a:r>
          </a:p>
        </p:txBody>
      </p:sp>
      <p:sp>
        <p:nvSpPr>
          <p:cNvPr id="10" name="Rounded Rectangle 9"/>
          <p:cNvSpPr/>
          <p:nvPr/>
        </p:nvSpPr>
        <p:spPr>
          <a:xfrm>
            <a:off x="6339535" y="1828800"/>
            <a:ext cx="5120640" cy="347472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800"/>
              </a:spcBef>
              <a:defRPr sz="1500" b="1">
                <a:solidFill>
                  <a:srgbClr val="1D4ED8"/>
                </a:solidFill>
                <a:latin typeface="Arial"/>
              </a:defRPr>
            </a:pPr>
            <a:r>
              <a:t>CLINIC B: IDLE UNUSED SURPLUS</a:t>
            </a:r>
          </a:p>
          <a:p>
            <a:pPr>
              <a:spcBef>
                <a:spcPts val="400"/>
              </a:spcBef>
              <a:defRPr sz="1200">
                <a:solidFill>
                  <a:srgbClr val="64748B"/>
                </a:solidFill>
                <a:latin typeface="Arial"/>
              </a:defRPr>
            </a:pPr>
            <a:r>
              <a:t>PHC Danapur (Distance: 18.4 km via NH31)</a:t>
            </a:r>
          </a:p>
        </p:txBody>
      </p:sp>
      <p:sp>
        <p:nvSpPr>
          <p:cNvPr id="11" name="Rectangle 10"/>
          <p:cNvSpPr/>
          <p:nvPr/>
        </p:nvSpPr>
        <p:spPr>
          <a:xfrm>
            <a:off x="6339535" y="1828800"/>
            <a:ext cx="5120640" cy="7315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613855" y="2560320"/>
            <a:ext cx="4572000" cy="777240"/>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1D4ED8"/>
                </a:solidFill>
                <a:latin typeface="Arial"/>
              </a:defRPr>
            </a:pPr>
            <a:r>
              <a:t>DOSA = 48.5 Days (Idle Excess Surplus)</a:t>
            </a:r>
          </a:p>
          <a:p>
            <a:pPr algn="ctr">
              <a:defRPr sz="950">
                <a:solidFill>
                  <a:srgbClr val="64748B"/>
                </a:solidFill>
                <a:latin typeface="Consolas"/>
              </a:defRPr>
            </a:pPr>
            <a:r>
              <a:t>Sitting on 3,500 unopened packs of Paracetamol &amp; Amoxicillin</a:t>
            </a:r>
          </a:p>
        </p:txBody>
      </p:sp>
      <p:sp>
        <p:nvSpPr>
          <p:cNvPr id="13" name="TextBox 12"/>
          <p:cNvSpPr txBox="1"/>
          <p:nvPr/>
        </p:nvSpPr>
        <p:spPr>
          <a:xfrm>
            <a:off x="6522415" y="3429000"/>
            <a:ext cx="4754880" cy="1737360"/>
          </a:xfrm>
          <a:prstGeom prst="rect">
            <a:avLst/>
          </a:prstGeom>
          <a:noFill/>
        </p:spPr>
        <p:txBody>
          <a:bodyPr wrap="square">
            <a:spAutoFit/>
          </a:bodyPr>
          <a:lstStyle/>
          <a:p/>
          <a:p>
            <a:pPr>
              <a:spcBef>
                <a:spcPts val="600"/>
              </a:spcBef>
              <a:defRPr sz="1200">
                <a:solidFill>
                  <a:srgbClr val="1E293B"/>
                </a:solidFill>
                <a:latin typeface="Arial"/>
              </a:defRPr>
            </a:pPr>
            <a:r>
              <a:t>• Invisible Inventory: District officers cannot see real-time cross-facility stock.</a:t>
            </a:r>
          </a:p>
          <a:p>
            <a:pPr>
              <a:spcBef>
                <a:spcPts val="600"/>
              </a:spcBef>
              <a:defRPr sz="1200">
                <a:solidFill>
                  <a:srgbClr val="1E293B"/>
                </a:solidFill>
                <a:latin typeface="Arial"/>
              </a:defRPr>
            </a:pPr>
            <a:r>
              <a:t>• Waste &amp; Expiry: Life-saving medicine risks expiring on shelves while neighbors die.</a:t>
            </a:r>
          </a:p>
          <a:p>
            <a:pPr>
              <a:spcBef>
                <a:spcPts val="600"/>
              </a:spcBef>
              <a:defRPr sz="1200">
                <a:solidFill>
                  <a:srgbClr val="1E293B"/>
                </a:solidFill>
                <a:latin typeface="Arial"/>
              </a:defRPr>
            </a:pPr>
            <a:r>
              <a:t>• Zero Coordination: No automated mechanism to pair surplus donors with clinics in deficit.</a:t>
            </a:r>
          </a:p>
        </p:txBody>
      </p:sp>
      <p:sp>
        <p:nvSpPr>
          <p:cNvPr id="14" name="Rounded Rectangle 13"/>
          <p:cNvSpPr/>
          <p:nvPr/>
        </p:nvSpPr>
        <p:spPr>
          <a:xfrm>
            <a:off x="731520" y="5486400"/>
            <a:ext cx="10728655" cy="594360"/>
          </a:xfrm>
          <a:prstGeom prst="roundRect">
            <a:avLst/>
          </a:prstGeom>
          <a:solidFill>
            <a:srgbClr val="FEF2F2"/>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DC2626"/>
                </a:solidFill>
                <a:latin typeface="Arial"/>
              </a:defRPr>
            </a:pPr>
            <a:r>
              <a:t>⚠️ THE ROOT CAUSE: Healthcare supply chains are reactive, siloed, and paper-bound. By the time a stockout is reported, it is already too late.</a:t>
            </a:r>
          </a:p>
        </p:txBody>
      </p:sp>
      <p:sp>
        <p:nvSpPr>
          <p:cNvPr id="15" name="Rectangle 14"/>
          <p:cNvSpPr/>
          <p:nvPr/>
        </p:nvSpPr>
        <p:spPr>
          <a:xfrm>
            <a:off x="731520" y="6309360"/>
            <a:ext cx="10728655"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6355080"/>
            <a:ext cx="7315200" cy="320040"/>
          </a:xfrm>
          <a:prstGeom prst="rect">
            <a:avLst/>
          </a:prstGeom>
          <a:noFill/>
        </p:spPr>
        <p:txBody>
          <a:bodyPr wrap="none">
            <a:spAutoFit/>
          </a:bodyPr>
          <a:lstStyle/>
          <a:p>
            <a:pPr>
              <a:defRPr sz="950">
                <a:solidFill>
                  <a:srgbClr val="94A3B8"/>
                </a:solidFill>
                <a:latin typeface="Consolas"/>
              </a:defRPr>
            </a:pPr>
            <a:r>
              <a:t>SWASTHYAGRID AI • Google Cloud GenAI Hackathon 2026 • Track 3: Smart Health &amp; Resilience</a:t>
            </a:r>
          </a:p>
        </p:txBody>
      </p:sp>
      <p:sp>
        <p:nvSpPr>
          <p:cNvPr id="17" name="TextBox 16"/>
          <p:cNvSpPr txBox="1"/>
          <p:nvPr/>
        </p:nvSpPr>
        <p:spPr>
          <a:xfrm>
            <a:off x="9601200" y="6355080"/>
            <a:ext cx="1828800" cy="320040"/>
          </a:xfrm>
          <a:prstGeom prst="rect">
            <a:avLst/>
          </a:prstGeom>
          <a:noFill/>
        </p:spPr>
        <p:txBody>
          <a:bodyPr wrap="none">
            <a:spAutoFit/>
          </a:bodyPr>
          <a:lstStyle/>
          <a:p>
            <a:pPr algn="r">
              <a:defRPr sz="950" b="1">
                <a:solidFill>
                  <a:srgbClr val="1D4ED8"/>
                </a:solidFill>
                <a:latin typeface="Consolas"/>
              </a:defRPr>
            </a:pPr>
            <a:r>
              <a:t>Slide 02 of 12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47472"/>
            <a:ext cx="4114800" cy="310896"/>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1D4ED8"/>
                </a:solidFill>
                <a:latin typeface="Consolas"/>
              </a:defRPr>
            </a:pPr>
            <a:r>
              <a:t>03 / OUR SOLUTION</a:t>
            </a:r>
          </a:p>
        </p:txBody>
      </p:sp>
      <p:sp>
        <p:nvSpPr>
          <p:cNvPr id="4" name="TextBox 3"/>
          <p:cNvSpPr txBox="1"/>
          <p:nvPr/>
        </p:nvSpPr>
        <p:spPr>
          <a:xfrm>
            <a:off x="731520" y="713232"/>
            <a:ext cx="10728655" cy="594360"/>
          </a:xfrm>
          <a:prstGeom prst="rect">
            <a:avLst/>
          </a:prstGeom>
          <a:noFill/>
        </p:spPr>
        <p:txBody>
          <a:bodyPr wrap="square">
            <a:spAutoFit/>
          </a:bodyPr>
          <a:lstStyle/>
          <a:p>
            <a:pPr>
              <a:defRPr sz="2400" b="1">
                <a:solidFill>
                  <a:srgbClr val="0F172A"/>
                </a:solidFill>
                <a:latin typeface="Arial"/>
              </a:defRPr>
            </a:pPr>
            <a:r>
              <a:t>The 4-Pillar Autonomous Health Resilience Grid</a:t>
            </a:r>
          </a:p>
        </p:txBody>
      </p:sp>
      <p:sp>
        <p:nvSpPr>
          <p:cNvPr id="5" name="TextBox 4"/>
          <p:cNvSpPr txBox="1"/>
          <p:nvPr/>
        </p:nvSpPr>
        <p:spPr>
          <a:xfrm>
            <a:off x="731520" y="1298448"/>
            <a:ext cx="10728655" cy="365760"/>
          </a:xfrm>
          <a:prstGeom prst="rect">
            <a:avLst/>
          </a:prstGeom>
          <a:noFill/>
        </p:spPr>
        <p:txBody>
          <a:bodyPr wrap="square">
            <a:spAutoFit/>
          </a:bodyPr>
          <a:lstStyle/>
          <a:p>
            <a:pPr>
              <a:defRPr sz="1300">
                <a:solidFill>
                  <a:srgbClr val="64748B"/>
                </a:solidFill>
                <a:latin typeface="Arial"/>
              </a:defRPr>
            </a:pPr>
            <a:r>
              <a:t>Transforming fragmented operational telemetry into predictive, automated early action.</a:t>
            </a:r>
          </a:p>
        </p:txBody>
      </p:sp>
      <p:sp>
        <p:nvSpPr>
          <p:cNvPr id="6" name="Rounded Rectangle 5"/>
          <p:cNvSpPr/>
          <p:nvPr/>
        </p:nvSpPr>
        <p:spPr>
          <a:xfrm>
            <a:off x="731520" y="1920240"/>
            <a:ext cx="2514600" cy="4114800"/>
          </a:xfrm>
          <a:prstGeom prst="roundRect">
            <a:avLst/>
          </a:prstGeom>
          <a:solidFill>
            <a:srgbClr val="FFFFFF"/>
          </a:solidFill>
          <a:ln w="19050">
            <a:solidFill>
              <a:srgbClr val="0891B2"/>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1200"/>
              </a:spcBef>
              <a:defRPr sz="1100" b="1">
                <a:solidFill>
                  <a:srgbClr val="0891B2"/>
                </a:solidFill>
                <a:latin typeface="Consolas"/>
              </a:defRPr>
            </a:pPr>
            <a:r>
              <a:t>01 / PREDICT</a:t>
            </a:r>
          </a:p>
          <a:p>
            <a:pPr>
              <a:spcBef>
                <a:spcPts val="400"/>
              </a:spcBef>
              <a:defRPr sz="1400" b="1">
                <a:solidFill>
                  <a:srgbClr val="0F172A"/>
                </a:solidFill>
                <a:latin typeface="Arial"/>
              </a:defRPr>
            </a:pPr>
            <a:r>
              <a:t>Time-Series AI Forecasting</a:t>
            </a:r>
          </a:p>
          <a:p>
            <a:pPr>
              <a:spcBef>
                <a:spcPts val="1000"/>
              </a:spcBef>
              <a:defRPr sz="1150">
                <a:solidFill>
                  <a:srgbClr val="334155"/>
                </a:solidFill>
                <a:latin typeface="Arial"/>
              </a:defRPr>
            </a:pPr>
            <a:r>
              <a:t>Regularized Ridge &amp; LightGBM multi-horizon models predict demand surges 7 &amp; 14 days in advance.</a:t>
            </a:r>
            <a:br/>
            <a:br/>
            <a:r>
              <a:t>• Eliminates temporal data leakage</a:t>
            </a:r>
            <a:br/>
            <a:r>
              <a:t>• Incorporates OPD footfall &amp; weather</a:t>
            </a:r>
            <a:br/>
            <a:r>
              <a:t>• 51.7% better accuracy than moving avg</a:t>
            </a:r>
          </a:p>
        </p:txBody>
      </p:sp>
      <p:sp>
        <p:nvSpPr>
          <p:cNvPr id="7" name="Rectangle 6"/>
          <p:cNvSpPr/>
          <p:nvPr/>
        </p:nvSpPr>
        <p:spPr>
          <a:xfrm>
            <a:off x="731520" y="1920240"/>
            <a:ext cx="2514600" cy="73152"/>
          </a:xfrm>
          <a:prstGeom prst="rect">
            <a:avLst/>
          </a:prstGeom>
          <a:solidFill>
            <a:srgbClr val="0891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914400" y="5486400"/>
            <a:ext cx="2148840" cy="365760"/>
          </a:xfrm>
          <a:prstGeom prst="roundRect">
            <a:avLst/>
          </a:prstGeom>
          <a:solidFill>
            <a:srgbClr val="F0FDFA"/>
          </a:solidFill>
          <a:ln w="12700">
            <a:solidFill>
              <a:srgbClr val="0891B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0891B2"/>
                </a:solidFill>
                <a:latin typeface="Consolas"/>
              </a:defRPr>
            </a:pPr>
            <a:r>
              <a:t>51.7% MAE GAIN</a:t>
            </a:r>
          </a:p>
        </p:txBody>
      </p:sp>
      <p:sp>
        <p:nvSpPr>
          <p:cNvPr id="9" name="Rounded Rectangle 8"/>
          <p:cNvSpPr/>
          <p:nvPr/>
        </p:nvSpPr>
        <p:spPr>
          <a:xfrm>
            <a:off x="3465576" y="1920240"/>
            <a:ext cx="2514600" cy="4114800"/>
          </a:xfrm>
          <a:prstGeom prst="roundRect">
            <a:avLst/>
          </a:prstGeom>
          <a:solidFill>
            <a:srgbClr val="FFFFFF"/>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1200"/>
              </a:spcBef>
              <a:defRPr sz="1100" b="1">
                <a:solidFill>
                  <a:srgbClr val="D97706"/>
                </a:solidFill>
                <a:latin typeface="Consolas"/>
              </a:defRPr>
            </a:pPr>
            <a:r>
              <a:t>02 / WARN</a:t>
            </a:r>
          </a:p>
          <a:p>
            <a:pPr>
              <a:spcBef>
                <a:spcPts val="400"/>
              </a:spcBef>
              <a:defRPr sz="1400" b="1">
                <a:solidFill>
                  <a:srgbClr val="0F172A"/>
                </a:solidFill>
                <a:latin typeface="Arial"/>
              </a:defRPr>
            </a:pPr>
            <a:r>
              <a:t>72-Hour Risk Engine</a:t>
            </a:r>
          </a:p>
          <a:p>
            <a:pPr>
              <a:spcBef>
                <a:spcPts val="1000"/>
              </a:spcBef>
              <a:defRPr sz="1150">
                <a:solidFill>
                  <a:srgbClr val="334155"/>
                </a:solidFill>
                <a:latin typeface="Arial"/>
              </a:defRPr>
            </a:pPr>
            <a:r>
              <a:t>Mathematical calculation of Days of Stock Available (DOSA = Stock / Demand).</a:t>
            </a:r>
            <a:br/>
            <a:br/>
            <a:r>
              <a:t>• Automated early warnings when DOSA &lt; 3.0d</a:t>
            </a:r>
            <a:br/>
            <a:r>
              <a:t>• Flags shortages 72 hours early</a:t>
            </a:r>
            <a:br/>
            <a:r>
              <a:t>• Categorizes facilities into 4 risk tiers</a:t>
            </a:r>
          </a:p>
        </p:txBody>
      </p:sp>
      <p:sp>
        <p:nvSpPr>
          <p:cNvPr id="10" name="Rectangle 9"/>
          <p:cNvSpPr/>
          <p:nvPr/>
        </p:nvSpPr>
        <p:spPr>
          <a:xfrm>
            <a:off x="3465576" y="1920240"/>
            <a:ext cx="2514600" cy="7315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3648456" y="5486400"/>
            <a:ext cx="2148840" cy="365760"/>
          </a:xfrm>
          <a:prstGeom prst="roundRect">
            <a:avLst/>
          </a:prstGeom>
          <a:solidFill>
            <a:srgbClr val="FEF3C7"/>
          </a:solidFill>
          <a:ln w="1270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D97706"/>
                </a:solidFill>
                <a:latin typeface="Consolas"/>
              </a:defRPr>
            </a:pPr>
            <a:r>
              <a:t>72-HR LEAD TIME</a:t>
            </a:r>
          </a:p>
        </p:txBody>
      </p:sp>
      <p:sp>
        <p:nvSpPr>
          <p:cNvPr id="12" name="Rounded Rectangle 11"/>
          <p:cNvSpPr/>
          <p:nvPr/>
        </p:nvSpPr>
        <p:spPr>
          <a:xfrm>
            <a:off x="6199632" y="1920240"/>
            <a:ext cx="2514600" cy="4114800"/>
          </a:xfrm>
          <a:prstGeom prst="roundRect">
            <a:avLst/>
          </a:prstGeom>
          <a:solidFill>
            <a:srgbClr val="FFFFFF"/>
          </a:solidFill>
          <a:ln w="1905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1200"/>
              </a:spcBef>
              <a:defRPr sz="1100" b="1">
                <a:solidFill>
                  <a:srgbClr val="059669"/>
                </a:solidFill>
                <a:latin typeface="Consolas"/>
              </a:defRPr>
            </a:pPr>
            <a:r>
              <a:t>03 / REDISTRIBUTE</a:t>
            </a:r>
          </a:p>
          <a:p>
            <a:pPr>
              <a:spcBef>
                <a:spcPts val="400"/>
              </a:spcBef>
              <a:defRPr sz="1400" b="1">
                <a:solidFill>
                  <a:srgbClr val="0F172A"/>
                </a:solidFill>
                <a:latin typeface="Arial"/>
              </a:defRPr>
            </a:pPr>
            <a:r>
              <a:t>Google OR-Tools MILP</a:t>
            </a:r>
          </a:p>
          <a:p>
            <a:pPr>
              <a:spcBef>
                <a:spcPts val="1000"/>
              </a:spcBef>
              <a:defRPr sz="1150">
                <a:solidFill>
                  <a:srgbClr val="334155"/>
                </a:solidFill>
                <a:latin typeface="Arial"/>
              </a:defRPr>
            </a:pPr>
            <a:r>
              <a:t>Combinatorial Mixed-Integer Linear Programming rebalances multi-donor, multi-recipient nodes.</a:t>
            </a:r>
            <a:br/>
            <a:br/>
            <a:r>
              <a:t>• Strict 50 km road transit radius</a:t>
            </a:r>
            <a:br/>
            <a:r>
              <a:t>• Zero Donor Deficit mathematical guarantee</a:t>
            </a:r>
            <a:br/>
            <a:r>
              <a:t>• Solves in under 45 milliseconds</a:t>
            </a:r>
          </a:p>
        </p:txBody>
      </p:sp>
      <p:sp>
        <p:nvSpPr>
          <p:cNvPr id="13" name="Rectangle 12"/>
          <p:cNvSpPr/>
          <p:nvPr/>
        </p:nvSpPr>
        <p:spPr>
          <a:xfrm>
            <a:off x="6199632" y="1920240"/>
            <a:ext cx="2514600" cy="73152"/>
          </a:xfrm>
          <a:prstGeom prst="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382512" y="5486400"/>
            <a:ext cx="2148840" cy="365760"/>
          </a:xfrm>
          <a:prstGeom prst="roundRect">
            <a:avLst/>
          </a:prstGeom>
          <a:solidFill>
            <a:srgbClr val="ECFDF5"/>
          </a:solidFill>
          <a:ln w="1270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059669"/>
                </a:solidFill>
                <a:latin typeface="Consolas"/>
              </a:defRPr>
            </a:pPr>
            <a:r>
              <a:t>0.0% DONOR DEFICIT</a:t>
            </a:r>
          </a:p>
        </p:txBody>
      </p:sp>
      <p:sp>
        <p:nvSpPr>
          <p:cNvPr id="15" name="Rounded Rectangle 14"/>
          <p:cNvSpPr/>
          <p:nvPr/>
        </p:nvSpPr>
        <p:spPr>
          <a:xfrm>
            <a:off x="8933688" y="1920240"/>
            <a:ext cx="2514600" cy="4114800"/>
          </a:xfrm>
          <a:prstGeom prst="roundRect">
            <a:avLst/>
          </a:prstGeom>
          <a:solidFill>
            <a:srgbClr val="FFFFFF"/>
          </a:solidFill>
          <a:ln w="1905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1200"/>
              </a:spcBef>
              <a:defRPr sz="1100" b="1">
                <a:solidFill>
                  <a:srgbClr val="7C3AED"/>
                </a:solidFill>
                <a:latin typeface="Consolas"/>
              </a:defRPr>
            </a:pPr>
            <a:r>
              <a:t>04 / RESPOND</a:t>
            </a:r>
          </a:p>
          <a:p>
            <a:pPr>
              <a:spcBef>
                <a:spcPts val="400"/>
              </a:spcBef>
              <a:defRPr sz="1400" b="1">
                <a:solidFill>
                  <a:srgbClr val="0F172A"/>
                </a:solidFill>
                <a:latin typeface="Arial"/>
              </a:defRPr>
            </a:pPr>
            <a:r>
              <a:t>Grounded Gemini 2.5 Flash</a:t>
            </a:r>
          </a:p>
          <a:p>
            <a:pPr>
              <a:spcBef>
                <a:spcPts val="1000"/>
              </a:spcBef>
              <a:defRPr sz="1150">
                <a:solidFill>
                  <a:srgbClr val="334155"/>
                </a:solidFill>
                <a:latin typeface="Arial"/>
              </a:defRPr>
            </a:pPr>
            <a:r>
              <a:t>Voice-enabled, bilingual (English / Hindi) Operations Copilot for healthcare directors.</a:t>
            </a:r>
            <a:br/>
            <a:br/>
            <a:r>
              <a:t>• Grounded in 10+ deterministic Python tools</a:t>
            </a:r>
            <a:br/>
            <a:r>
              <a:t>• 1-Click Verified Evidence Drawer</a:t>
            </a:r>
            <a:br/>
            <a:r>
              <a:t>• What-If disaster scenario sandboxing</a:t>
            </a:r>
          </a:p>
        </p:txBody>
      </p:sp>
      <p:sp>
        <p:nvSpPr>
          <p:cNvPr id="16" name="Rectangle 15"/>
          <p:cNvSpPr/>
          <p:nvPr/>
        </p:nvSpPr>
        <p:spPr>
          <a:xfrm>
            <a:off x="8933688" y="1920240"/>
            <a:ext cx="2514600" cy="73152"/>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9116568" y="5486400"/>
            <a:ext cx="2148840" cy="365760"/>
          </a:xfrm>
          <a:prstGeom prst="roundRect">
            <a:avLst/>
          </a:prstGeom>
          <a:solidFill>
            <a:srgbClr val="F5F3FF"/>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7C3AED"/>
                </a:solidFill>
                <a:latin typeface="Consolas"/>
              </a:defRPr>
            </a:pPr>
            <a:r>
              <a:t>100% GROUNDED AI</a:t>
            </a:r>
          </a:p>
        </p:txBody>
      </p:sp>
      <p:sp>
        <p:nvSpPr>
          <p:cNvPr id="18" name="Rectangle 17"/>
          <p:cNvSpPr/>
          <p:nvPr/>
        </p:nvSpPr>
        <p:spPr>
          <a:xfrm>
            <a:off x="731520" y="6309360"/>
            <a:ext cx="10728655"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6355080"/>
            <a:ext cx="7315200" cy="320040"/>
          </a:xfrm>
          <a:prstGeom prst="rect">
            <a:avLst/>
          </a:prstGeom>
          <a:noFill/>
        </p:spPr>
        <p:txBody>
          <a:bodyPr wrap="none">
            <a:spAutoFit/>
          </a:bodyPr>
          <a:lstStyle/>
          <a:p>
            <a:pPr>
              <a:defRPr sz="950">
                <a:solidFill>
                  <a:srgbClr val="94A3B8"/>
                </a:solidFill>
                <a:latin typeface="Consolas"/>
              </a:defRPr>
            </a:pPr>
            <a:r>
              <a:t>SWASTHYAGRID AI • Google Cloud GenAI Hackathon 2026 • Track 3: Smart Health &amp; Resilience</a:t>
            </a:r>
          </a:p>
        </p:txBody>
      </p:sp>
      <p:sp>
        <p:nvSpPr>
          <p:cNvPr id="20" name="TextBox 19"/>
          <p:cNvSpPr txBox="1"/>
          <p:nvPr/>
        </p:nvSpPr>
        <p:spPr>
          <a:xfrm>
            <a:off x="9601200" y="6355080"/>
            <a:ext cx="1828800" cy="320040"/>
          </a:xfrm>
          <a:prstGeom prst="rect">
            <a:avLst/>
          </a:prstGeom>
          <a:noFill/>
        </p:spPr>
        <p:txBody>
          <a:bodyPr wrap="none">
            <a:spAutoFit/>
          </a:bodyPr>
          <a:lstStyle/>
          <a:p>
            <a:pPr algn="r">
              <a:defRPr sz="950" b="1">
                <a:solidFill>
                  <a:srgbClr val="1D4ED8"/>
                </a:solidFill>
                <a:latin typeface="Consolas"/>
              </a:defRPr>
            </a:pPr>
            <a:r>
              <a:t>Slide 03 of 12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47472"/>
            <a:ext cx="4114800" cy="310896"/>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1D4ED8"/>
                </a:solidFill>
                <a:latin typeface="Consolas"/>
              </a:defRPr>
            </a:pPr>
            <a:r>
              <a:t>04 / PREDICTIVE INTELLIGENCE</a:t>
            </a:r>
          </a:p>
        </p:txBody>
      </p:sp>
      <p:sp>
        <p:nvSpPr>
          <p:cNvPr id="4" name="TextBox 3"/>
          <p:cNvSpPr txBox="1"/>
          <p:nvPr/>
        </p:nvSpPr>
        <p:spPr>
          <a:xfrm>
            <a:off x="731520" y="713232"/>
            <a:ext cx="10728655" cy="594360"/>
          </a:xfrm>
          <a:prstGeom prst="rect">
            <a:avLst/>
          </a:prstGeom>
          <a:noFill/>
        </p:spPr>
        <p:txBody>
          <a:bodyPr wrap="square">
            <a:spAutoFit/>
          </a:bodyPr>
          <a:lstStyle/>
          <a:p>
            <a:pPr>
              <a:defRPr sz="2400" b="1">
                <a:solidFill>
                  <a:srgbClr val="0F172A"/>
                </a:solidFill>
                <a:latin typeface="Arial"/>
              </a:defRPr>
            </a:pPr>
            <a:r>
              <a:t>Pillar 1: Multi-Horizon Machine Learning Demand Forecasting</a:t>
            </a:r>
          </a:p>
        </p:txBody>
      </p:sp>
      <p:sp>
        <p:nvSpPr>
          <p:cNvPr id="5" name="TextBox 4"/>
          <p:cNvSpPr txBox="1"/>
          <p:nvPr/>
        </p:nvSpPr>
        <p:spPr>
          <a:xfrm>
            <a:off x="731520" y="1298448"/>
            <a:ext cx="10728655" cy="365760"/>
          </a:xfrm>
          <a:prstGeom prst="rect">
            <a:avLst/>
          </a:prstGeom>
          <a:noFill/>
        </p:spPr>
        <p:txBody>
          <a:bodyPr wrap="square">
            <a:spAutoFit/>
          </a:bodyPr>
          <a:lstStyle/>
          <a:p>
            <a:pPr>
              <a:defRPr sz="1300">
                <a:solidFill>
                  <a:srgbClr val="64748B"/>
                </a:solidFill>
                <a:latin typeface="Arial"/>
              </a:defRPr>
            </a:pPr>
            <a:r>
              <a:t>Eliminating blind spots using chronological feature pipelines and regularized GLM regressors.</a:t>
            </a:r>
          </a:p>
        </p:txBody>
      </p:sp>
      <p:sp>
        <p:nvSpPr>
          <p:cNvPr id="6" name="Rounded Rectangle 5"/>
          <p:cNvSpPr/>
          <p:nvPr/>
        </p:nvSpPr>
        <p:spPr>
          <a:xfrm>
            <a:off x="731520" y="1920240"/>
            <a:ext cx="5120640" cy="4114800"/>
          </a:xfrm>
          <a:prstGeom prst="roundRect">
            <a:avLst/>
          </a:prstGeom>
          <a:solidFill>
            <a:srgbClr val="FFFFFF"/>
          </a:solidFill>
          <a:ln w="19050">
            <a:solidFill>
              <a:srgbClr val="0891B2"/>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0891B2"/>
                </a:solidFill>
                <a:latin typeface="Arial"/>
              </a:defRPr>
            </a:pPr>
            <a:r>
              <a:t>Feature Pipeline &amp; Leakage Elimination</a:t>
            </a:r>
          </a:p>
          <a:p>
            <a:pPr>
              <a:spcBef>
                <a:spcPts val="800"/>
              </a:spcBef>
              <a:defRPr sz="1200">
                <a:solidFill>
                  <a:srgbClr val="1E293B"/>
                </a:solidFill>
                <a:latin typeface="Arial"/>
              </a:defRPr>
            </a:pPr>
            <a:r>
              <a:t>• Strict Chronological Split: 70% Train, 15% Val, 15% Test without temporal leakage across dates.</a:t>
            </a:r>
          </a:p>
          <a:p>
            <a:pPr>
              <a:spcBef>
                <a:spcPts val="800"/>
              </a:spcBef>
              <a:defRPr sz="1200">
                <a:solidFill>
                  <a:srgbClr val="1E293B"/>
                </a:solidFill>
                <a:latin typeface="Arial"/>
              </a:defRPr>
            </a:pPr>
            <a:r>
              <a:t>• Multi-Order Lags: Consumption shifts across 1-day, 2-day, 3-day, 7-day, and 14-day intervals.</a:t>
            </a:r>
          </a:p>
          <a:p>
            <a:pPr>
              <a:spcBef>
                <a:spcPts val="800"/>
              </a:spcBef>
              <a:defRPr sz="1200">
                <a:solidFill>
                  <a:srgbClr val="1E293B"/>
                </a:solidFill>
                <a:latin typeface="Arial"/>
              </a:defRPr>
            </a:pPr>
            <a:r>
              <a:t>• Calendar Signals: Day-of-week, weekend effects, Monday outpatient surge indices, and seasonality.</a:t>
            </a:r>
          </a:p>
          <a:p>
            <a:pPr>
              <a:spcBef>
                <a:spcPts val="800"/>
              </a:spcBef>
              <a:defRPr sz="1200">
                <a:solidFill>
                  <a:srgbClr val="1E293B"/>
                </a:solidFill>
                <a:latin typeface="Arial"/>
              </a:defRPr>
            </a:pPr>
            <a:r>
              <a:t>• Contextual Multipliers: Real-time patient OPD footfall, bed occupancy rates, and active epidemic status.</a:t>
            </a:r>
          </a:p>
          <a:p>
            <a:pPr>
              <a:spcBef>
                <a:spcPts val="800"/>
              </a:spcBef>
              <a:defRPr sz="1200">
                <a:solidFill>
                  <a:srgbClr val="1E293B"/>
                </a:solidFill>
                <a:latin typeface="Arial"/>
              </a:defRPr>
            </a:pPr>
            <a:r>
              <a:t>• Uncertainty Modeling: Outputs point forecasts (p50) plus p10 &amp; p90 quantile intervals for risk safety buffers.</a:t>
            </a:r>
          </a:p>
        </p:txBody>
      </p:sp>
      <p:sp>
        <p:nvSpPr>
          <p:cNvPr id="7" name="Rounded Rectangle 6"/>
          <p:cNvSpPr/>
          <p:nvPr/>
        </p:nvSpPr>
        <p:spPr>
          <a:xfrm>
            <a:off x="6339535" y="1920240"/>
            <a:ext cx="5120640" cy="4114800"/>
          </a:xfrm>
          <a:prstGeom prst="roundRect">
            <a:avLst/>
          </a:prstGeom>
          <a:solidFill>
            <a:srgbClr val="FFFFFF"/>
          </a:solidFill>
          <a:ln w="1905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059669"/>
                </a:solidFill>
                <a:latin typeface="Arial"/>
              </a:defRPr>
            </a:pPr>
            <a:r>
              <a:t>Empirical Benchmark vs. 7-Day Moving Average</a:t>
            </a:r>
          </a:p>
        </p:txBody>
      </p:sp>
      <p:graphicFrame>
        <p:nvGraphicFramePr>
          <p:cNvPr id="8" name="Table 7"/>
          <p:cNvGraphicFramePr>
            <a:graphicFrameLocks noGrp="1"/>
          </p:cNvGraphicFramePr>
          <p:nvPr/>
        </p:nvGraphicFramePr>
        <p:xfrm>
          <a:off x="6522415" y="2560320"/>
          <a:ext cx="4754880" cy="2011680"/>
        </p:xfrm>
        <a:graphic>
          <a:graphicData uri="http://schemas.openxmlformats.org/drawingml/2006/table">
            <a:tbl>
              <a:tblPr firstRow="1" bandRow="1">
                <a:tableStyleId>{5C22544A-7EE6-4342-B048-85BDC9FD1C3A}</a:tableStyleId>
              </a:tblPr>
              <a:tblGrid>
                <a:gridCol w="1188720"/>
                <a:gridCol w="1188720"/>
                <a:gridCol w="1188720"/>
                <a:gridCol w="1188720"/>
              </a:tblGrid>
              <a:tr h="502920">
                <a:tc>
                  <a:txBody>
                    <a:bodyPr/>
                    <a:lstStyle/>
                    <a:p>
                      <a:pPr>
                        <a:defRPr sz="1100" b="1">
                          <a:solidFill>
                            <a:srgbClr val="1D4ED8"/>
                          </a:solidFill>
                          <a:latin typeface="Arial"/>
                        </a:defRPr>
                      </a:pPr>
                      <a:r>
                        <a:t>Forecasting Task</a:t>
                      </a:r>
                    </a:p>
                  </a:txBody>
                  <a:tcPr>
                    <a:solidFill>
                      <a:srgbClr val="F1F5F9"/>
                    </a:solidFill>
                  </a:tcPr>
                </a:tc>
                <a:tc>
                  <a:txBody>
                    <a:bodyPr/>
                    <a:lstStyle/>
                    <a:p>
                      <a:pPr>
                        <a:defRPr sz="1100" b="1">
                          <a:solidFill>
                            <a:srgbClr val="1D4ED8"/>
                          </a:solidFill>
                          <a:latin typeface="Arial"/>
                        </a:defRPr>
                      </a:pPr>
                      <a:r>
                        <a:t>Baseline (7d MA)</a:t>
                      </a:r>
                    </a:p>
                  </a:txBody>
                  <a:tcPr>
                    <a:solidFill>
                      <a:srgbClr val="F1F5F9"/>
                    </a:solidFill>
                  </a:tcPr>
                </a:tc>
                <a:tc>
                  <a:txBody>
                    <a:bodyPr/>
                    <a:lstStyle/>
                    <a:p>
                      <a:pPr>
                        <a:defRPr sz="1100" b="1">
                          <a:solidFill>
                            <a:srgbClr val="1D4ED8"/>
                          </a:solidFill>
                          <a:latin typeface="Arial"/>
                        </a:defRPr>
                      </a:pPr>
                      <a:r>
                        <a:t>Swasthya ML</a:t>
                      </a:r>
                    </a:p>
                  </a:txBody>
                  <a:tcPr>
                    <a:solidFill>
                      <a:srgbClr val="F1F5F9"/>
                    </a:solidFill>
                  </a:tcPr>
                </a:tc>
                <a:tc>
                  <a:txBody>
                    <a:bodyPr/>
                    <a:lstStyle/>
                    <a:p>
                      <a:pPr>
                        <a:defRPr sz="1100" b="1">
                          <a:solidFill>
                            <a:srgbClr val="1D4ED8"/>
                          </a:solidFill>
                          <a:latin typeface="Arial"/>
                        </a:defRPr>
                      </a:pPr>
                      <a:r>
                        <a:t>Gain</a:t>
                      </a:r>
                    </a:p>
                  </a:txBody>
                  <a:tcPr>
                    <a:solidFill>
                      <a:srgbClr val="F1F5F9"/>
                    </a:solidFill>
                  </a:tcPr>
                </a:tc>
              </a:tr>
              <a:tr h="502920">
                <a:tc>
                  <a:txBody>
                    <a:bodyPr/>
                    <a:lstStyle/>
                    <a:p>
                      <a:pPr>
                        <a:defRPr sz="1100">
                          <a:solidFill>
                            <a:srgbClr val="1E293B"/>
                          </a:solidFill>
                          <a:latin typeface="Arial"/>
                        </a:defRPr>
                      </a:pPr>
                      <a:r>
                        <a:t>Medicine Demand MAE</a:t>
                      </a:r>
                    </a:p>
                  </a:txBody>
                  <a:tcPr>
                    <a:solidFill>
                      <a:srgbClr val="FFFFFF"/>
                    </a:solidFill>
                  </a:tcPr>
                </a:tc>
                <a:tc>
                  <a:txBody>
                    <a:bodyPr/>
                    <a:lstStyle/>
                    <a:p>
                      <a:pPr>
                        <a:defRPr sz="1100">
                          <a:solidFill>
                            <a:srgbClr val="1E293B"/>
                          </a:solidFill>
                          <a:latin typeface="Arial"/>
                        </a:defRPr>
                      </a:pPr>
                      <a:r>
                        <a:t>29.42 units</a:t>
                      </a:r>
                    </a:p>
                  </a:txBody>
                  <a:tcPr>
                    <a:solidFill>
                      <a:srgbClr val="FFFFFF"/>
                    </a:solidFill>
                  </a:tcPr>
                </a:tc>
                <a:tc>
                  <a:txBody>
                    <a:bodyPr/>
                    <a:lstStyle/>
                    <a:p>
                      <a:pPr>
                        <a:defRPr sz="1100">
                          <a:solidFill>
                            <a:srgbClr val="1E293B"/>
                          </a:solidFill>
                          <a:latin typeface="Arial"/>
                        </a:defRPr>
                      </a:pPr>
                      <a:r>
                        <a:t>14.21 units</a:t>
                      </a:r>
                    </a:p>
                  </a:txBody>
                  <a:tcPr>
                    <a:solidFill>
                      <a:srgbClr val="FFFFFF"/>
                    </a:solidFill>
                  </a:tcPr>
                </a:tc>
                <a:tc>
                  <a:txBody>
                    <a:bodyPr/>
                    <a:lstStyle/>
                    <a:p>
                      <a:pPr>
                        <a:defRPr sz="1100" b="1">
                          <a:solidFill>
                            <a:srgbClr val="059669"/>
                          </a:solidFill>
                          <a:latin typeface="Arial"/>
                        </a:defRPr>
                      </a:pPr>
                      <a:r>
                        <a:t>+51.72%</a:t>
                      </a:r>
                    </a:p>
                  </a:txBody>
                  <a:tcPr>
                    <a:solidFill>
                      <a:srgbClr val="FFFFFF"/>
                    </a:solidFill>
                  </a:tcPr>
                </a:tc>
              </a:tr>
              <a:tr h="502920">
                <a:tc>
                  <a:txBody>
                    <a:bodyPr/>
                    <a:lstStyle/>
                    <a:p>
                      <a:pPr>
                        <a:defRPr sz="1100">
                          <a:solidFill>
                            <a:srgbClr val="1E293B"/>
                          </a:solidFill>
                          <a:latin typeface="Arial"/>
                        </a:defRPr>
                      </a:pPr>
                      <a:r>
                        <a:t>Patient Footfall MAE</a:t>
                      </a:r>
                    </a:p>
                  </a:txBody>
                  <a:tcPr>
                    <a:solidFill>
                      <a:srgbClr val="FFFFFF"/>
                    </a:solidFill>
                  </a:tcPr>
                </a:tc>
                <a:tc>
                  <a:txBody>
                    <a:bodyPr/>
                    <a:lstStyle/>
                    <a:p>
                      <a:pPr>
                        <a:defRPr sz="1100">
                          <a:solidFill>
                            <a:srgbClr val="1E293B"/>
                          </a:solidFill>
                          <a:latin typeface="Arial"/>
                        </a:defRPr>
                      </a:pPr>
                      <a:r>
                        <a:t>150.80 pts</a:t>
                      </a:r>
                    </a:p>
                  </a:txBody>
                  <a:tcPr>
                    <a:solidFill>
                      <a:srgbClr val="FFFFFF"/>
                    </a:solidFill>
                  </a:tcPr>
                </a:tc>
                <a:tc>
                  <a:txBody>
                    <a:bodyPr/>
                    <a:lstStyle/>
                    <a:p>
                      <a:pPr>
                        <a:defRPr sz="1100">
                          <a:solidFill>
                            <a:srgbClr val="1E293B"/>
                          </a:solidFill>
                          <a:latin typeface="Arial"/>
                        </a:defRPr>
                      </a:pPr>
                      <a:r>
                        <a:t>55.14 pts</a:t>
                      </a:r>
                    </a:p>
                  </a:txBody>
                  <a:tcPr>
                    <a:solidFill>
                      <a:srgbClr val="FFFFFF"/>
                    </a:solidFill>
                  </a:tcPr>
                </a:tc>
                <a:tc>
                  <a:txBody>
                    <a:bodyPr/>
                    <a:lstStyle/>
                    <a:p>
                      <a:pPr>
                        <a:defRPr sz="1100" b="1">
                          <a:solidFill>
                            <a:srgbClr val="059669"/>
                          </a:solidFill>
                          <a:latin typeface="Arial"/>
                        </a:defRPr>
                      </a:pPr>
                      <a:r>
                        <a:t>+63.43%</a:t>
                      </a:r>
                    </a:p>
                  </a:txBody>
                  <a:tcPr>
                    <a:solidFill>
                      <a:srgbClr val="FFFFFF"/>
                    </a:solidFill>
                  </a:tcPr>
                </a:tc>
              </a:tr>
              <a:tr h="502920">
                <a:tc>
                  <a:txBody>
                    <a:bodyPr/>
                    <a:lstStyle/>
                    <a:p>
                      <a:pPr>
                        <a:defRPr sz="1100">
                          <a:solidFill>
                            <a:srgbClr val="1E293B"/>
                          </a:solidFill>
                          <a:latin typeface="Arial"/>
                        </a:defRPr>
                      </a:pPr>
                      <a:r>
                        <a:t>Bed Occupancy MAE</a:t>
                      </a:r>
                    </a:p>
                  </a:txBody>
                  <a:tcPr>
                    <a:solidFill>
                      <a:srgbClr val="FFFFFF"/>
                    </a:solidFill>
                  </a:tcPr>
                </a:tc>
                <a:tc>
                  <a:txBody>
                    <a:bodyPr/>
                    <a:lstStyle/>
                    <a:p>
                      <a:pPr>
                        <a:defRPr sz="1100">
                          <a:solidFill>
                            <a:srgbClr val="1E293B"/>
                          </a:solidFill>
                          <a:latin typeface="Arial"/>
                        </a:defRPr>
                      </a:pPr>
                      <a:r>
                        <a:t>2.57 beds</a:t>
                      </a:r>
                    </a:p>
                  </a:txBody>
                  <a:tcPr>
                    <a:solidFill>
                      <a:srgbClr val="FFFFFF"/>
                    </a:solidFill>
                  </a:tcPr>
                </a:tc>
                <a:tc>
                  <a:txBody>
                    <a:bodyPr/>
                    <a:lstStyle/>
                    <a:p>
                      <a:pPr>
                        <a:defRPr sz="1100">
                          <a:solidFill>
                            <a:srgbClr val="1E293B"/>
                          </a:solidFill>
                          <a:latin typeface="Arial"/>
                        </a:defRPr>
                      </a:pPr>
                      <a:r>
                        <a:t>1.69 beds</a:t>
                      </a:r>
                    </a:p>
                  </a:txBody>
                  <a:tcPr>
                    <a:solidFill>
                      <a:srgbClr val="FFFFFF"/>
                    </a:solidFill>
                  </a:tcPr>
                </a:tc>
                <a:tc>
                  <a:txBody>
                    <a:bodyPr/>
                    <a:lstStyle/>
                    <a:p>
                      <a:pPr>
                        <a:defRPr sz="1100" b="1">
                          <a:solidFill>
                            <a:srgbClr val="059669"/>
                          </a:solidFill>
                          <a:latin typeface="Arial"/>
                        </a:defRPr>
                      </a:pPr>
                      <a:r>
                        <a:t>+34.33%</a:t>
                      </a:r>
                    </a:p>
                  </a:txBody>
                  <a:tcPr>
                    <a:solidFill>
                      <a:srgbClr val="FFFFFF"/>
                    </a:solidFill>
                  </a:tcPr>
                </a:tc>
              </a:tr>
            </a:tbl>
          </a:graphicData>
        </a:graphic>
      </p:graphicFrame>
      <p:sp>
        <p:nvSpPr>
          <p:cNvPr id="9" name="Rounded Rectangle 8"/>
          <p:cNvSpPr/>
          <p:nvPr/>
        </p:nvSpPr>
        <p:spPr>
          <a:xfrm>
            <a:off x="6522415" y="4754880"/>
            <a:ext cx="4754880" cy="1097280"/>
          </a:xfrm>
          <a:prstGeom prst="roundRect">
            <a:avLst/>
          </a:prstGeom>
          <a:solidFill>
            <a:srgbClr val="ECFDF5"/>
          </a:solidFill>
          <a:ln w="1270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059669"/>
                </a:solidFill>
                <a:latin typeface="Arial"/>
              </a:defRPr>
            </a:pPr>
            <a:r>
              <a:t>✓ Validated by Automated Unit Tests: Model reduces prediction error by more than half, enabling accurate 14-day stocking with zero wasteful over-hoarding.</a:t>
            </a:r>
          </a:p>
        </p:txBody>
      </p:sp>
      <p:sp>
        <p:nvSpPr>
          <p:cNvPr id="10" name="Rectangle 9"/>
          <p:cNvSpPr/>
          <p:nvPr/>
        </p:nvSpPr>
        <p:spPr>
          <a:xfrm>
            <a:off x="731520" y="6309360"/>
            <a:ext cx="10728655"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6355080"/>
            <a:ext cx="7315200" cy="320040"/>
          </a:xfrm>
          <a:prstGeom prst="rect">
            <a:avLst/>
          </a:prstGeom>
          <a:noFill/>
        </p:spPr>
        <p:txBody>
          <a:bodyPr wrap="none">
            <a:spAutoFit/>
          </a:bodyPr>
          <a:lstStyle/>
          <a:p>
            <a:pPr>
              <a:defRPr sz="950">
                <a:solidFill>
                  <a:srgbClr val="94A3B8"/>
                </a:solidFill>
                <a:latin typeface="Consolas"/>
              </a:defRPr>
            </a:pPr>
            <a:r>
              <a:t>SWASTHYAGRID AI • Google Cloud GenAI Hackathon 2026 • Track 3: Smart Health &amp; Resilience</a:t>
            </a:r>
          </a:p>
        </p:txBody>
      </p:sp>
      <p:sp>
        <p:nvSpPr>
          <p:cNvPr id="12" name="TextBox 11"/>
          <p:cNvSpPr txBox="1"/>
          <p:nvPr/>
        </p:nvSpPr>
        <p:spPr>
          <a:xfrm>
            <a:off x="9601200" y="6355080"/>
            <a:ext cx="1828800" cy="320040"/>
          </a:xfrm>
          <a:prstGeom prst="rect">
            <a:avLst/>
          </a:prstGeom>
          <a:noFill/>
        </p:spPr>
        <p:txBody>
          <a:bodyPr wrap="none">
            <a:spAutoFit/>
          </a:bodyPr>
          <a:lstStyle/>
          <a:p>
            <a:pPr algn="r">
              <a:defRPr sz="950" b="1">
                <a:solidFill>
                  <a:srgbClr val="1D4ED8"/>
                </a:solidFill>
                <a:latin typeface="Consolas"/>
              </a:defRPr>
            </a:pPr>
            <a:r>
              <a:t>Slide 04 of 12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47472"/>
            <a:ext cx="4114800" cy="310896"/>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1D4ED8"/>
                </a:solidFill>
                <a:latin typeface="Consolas"/>
              </a:defRPr>
            </a:pPr>
            <a:r>
              <a:t>05 / RISK INTELLIGENCE</a:t>
            </a:r>
          </a:p>
        </p:txBody>
      </p:sp>
      <p:sp>
        <p:nvSpPr>
          <p:cNvPr id="4" name="TextBox 3"/>
          <p:cNvSpPr txBox="1"/>
          <p:nvPr/>
        </p:nvSpPr>
        <p:spPr>
          <a:xfrm>
            <a:off x="731520" y="713232"/>
            <a:ext cx="10728655" cy="594360"/>
          </a:xfrm>
          <a:prstGeom prst="rect">
            <a:avLst/>
          </a:prstGeom>
          <a:noFill/>
        </p:spPr>
        <p:txBody>
          <a:bodyPr wrap="square">
            <a:spAutoFit/>
          </a:bodyPr>
          <a:lstStyle/>
          <a:p>
            <a:pPr>
              <a:defRPr sz="2400" b="1">
                <a:solidFill>
                  <a:srgbClr val="0F172A"/>
                </a:solidFill>
                <a:latin typeface="Arial"/>
              </a:defRPr>
            </a:pPr>
            <a:r>
              <a:t>Pillar 2: Early Warning &amp; Vulnerability Triage</a:t>
            </a:r>
          </a:p>
        </p:txBody>
      </p:sp>
      <p:sp>
        <p:nvSpPr>
          <p:cNvPr id="5" name="TextBox 4"/>
          <p:cNvSpPr txBox="1"/>
          <p:nvPr/>
        </p:nvSpPr>
        <p:spPr>
          <a:xfrm>
            <a:off x="731520" y="1298448"/>
            <a:ext cx="10728655" cy="365760"/>
          </a:xfrm>
          <a:prstGeom prst="rect">
            <a:avLst/>
          </a:prstGeom>
          <a:noFill/>
        </p:spPr>
        <p:txBody>
          <a:bodyPr wrap="square">
            <a:spAutoFit/>
          </a:bodyPr>
          <a:lstStyle/>
          <a:p>
            <a:pPr>
              <a:defRPr sz="1300">
                <a:solidFill>
                  <a:srgbClr val="64748B"/>
                </a:solidFill>
                <a:latin typeface="Arial"/>
              </a:defRPr>
            </a:pPr>
            <a:r>
              <a:t>Mathematically triaging facilities into 4 actionable risk tiers before critical shortages happen.</a:t>
            </a:r>
          </a:p>
        </p:txBody>
      </p:sp>
      <p:sp>
        <p:nvSpPr>
          <p:cNvPr id="6" name="Rounded Rectangle 5"/>
          <p:cNvSpPr/>
          <p:nvPr/>
        </p:nvSpPr>
        <p:spPr>
          <a:xfrm>
            <a:off x="731520" y="1920240"/>
            <a:ext cx="2514600" cy="3291840"/>
          </a:xfrm>
          <a:prstGeom prst="roundRect">
            <a:avLst/>
          </a:prstGeom>
          <a:solidFill>
            <a:srgbClr val="FFFFFF"/>
          </a:solidFill>
          <a:ln w="1905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1000"/>
              </a:spcBef>
              <a:defRPr sz="1400" b="1">
                <a:solidFill>
                  <a:srgbClr val="DC2626"/>
                </a:solidFill>
                <a:latin typeface="Arial"/>
              </a:defRPr>
            </a:pPr>
            <a:r>
              <a:t>CRITICAL SHORTAGE</a:t>
            </a:r>
          </a:p>
          <a:p>
            <a:pPr>
              <a:spcBef>
                <a:spcPts val="400"/>
              </a:spcBef>
              <a:defRPr sz="1200" b="1">
                <a:solidFill>
                  <a:srgbClr val="0F172A"/>
                </a:solidFill>
                <a:latin typeface="Consolas"/>
              </a:defRPr>
            </a:pPr>
            <a:r>
              <a:t>DOSA &lt; 3.0 Days</a:t>
            </a:r>
          </a:p>
          <a:p>
            <a:pPr>
              <a:spcBef>
                <a:spcPts val="800"/>
              </a:spcBef>
              <a:defRPr sz="1100">
                <a:solidFill>
                  <a:srgbClr val="334155"/>
                </a:solidFill>
                <a:latin typeface="Arial"/>
              </a:defRPr>
            </a:pPr>
            <a:r>
              <a:t>Stockout imminent within 72 hours. Automatically triggers emergency donor search and vehicle route planning.</a:t>
            </a:r>
          </a:p>
        </p:txBody>
      </p:sp>
      <p:sp>
        <p:nvSpPr>
          <p:cNvPr id="7" name="Rectangle 6"/>
          <p:cNvSpPr/>
          <p:nvPr/>
        </p:nvSpPr>
        <p:spPr>
          <a:xfrm>
            <a:off x="731520" y="1920240"/>
            <a:ext cx="2514600" cy="7315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68680" y="4663440"/>
            <a:ext cx="2240280" cy="365760"/>
          </a:xfrm>
          <a:prstGeom prst="roundRect">
            <a:avLst/>
          </a:prstGeom>
          <a:solidFill>
            <a:srgbClr val="FEF2F2"/>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DC2626"/>
                </a:solidFill>
                <a:latin typeface="Consolas"/>
              </a:defRPr>
            </a:pPr>
            <a:r>
              <a:t>ACTION: RUN OR-TOOLS SOLVER</a:t>
            </a:r>
          </a:p>
        </p:txBody>
      </p:sp>
      <p:sp>
        <p:nvSpPr>
          <p:cNvPr id="9" name="Rounded Rectangle 8"/>
          <p:cNvSpPr/>
          <p:nvPr/>
        </p:nvSpPr>
        <p:spPr>
          <a:xfrm>
            <a:off x="3465576" y="1920240"/>
            <a:ext cx="2514600" cy="3291840"/>
          </a:xfrm>
          <a:prstGeom prst="roundRect">
            <a:avLst/>
          </a:prstGeom>
          <a:solidFill>
            <a:srgbClr val="FFFFFF"/>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1000"/>
              </a:spcBef>
              <a:defRPr sz="1400" b="1">
                <a:solidFill>
                  <a:srgbClr val="D97706"/>
                </a:solidFill>
                <a:latin typeface="Arial"/>
              </a:defRPr>
            </a:pPr>
            <a:r>
              <a:t>HIGH VULNERABILITY</a:t>
            </a:r>
          </a:p>
          <a:p>
            <a:pPr>
              <a:spcBef>
                <a:spcPts val="400"/>
              </a:spcBef>
              <a:defRPr sz="1200" b="1">
                <a:solidFill>
                  <a:srgbClr val="0F172A"/>
                </a:solidFill>
                <a:latin typeface="Consolas"/>
              </a:defRPr>
            </a:pPr>
            <a:r>
              <a:t>3.0 &lt;= DOSA &lt; 7.0 Days</a:t>
            </a:r>
          </a:p>
          <a:p>
            <a:pPr>
              <a:spcBef>
                <a:spcPts val="800"/>
              </a:spcBef>
              <a:defRPr sz="1100">
                <a:solidFill>
                  <a:srgbClr val="334155"/>
                </a:solidFill>
                <a:latin typeface="Arial"/>
              </a:defRPr>
            </a:pPr>
            <a:r>
              <a:t>Stock will deplete below safety buffer within 7 days. Flags district procurement officer to expedite shipment.</a:t>
            </a:r>
          </a:p>
        </p:txBody>
      </p:sp>
      <p:sp>
        <p:nvSpPr>
          <p:cNvPr id="10" name="Rectangle 9"/>
          <p:cNvSpPr/>
          <p:nvPr/>
        </p:nvSpPr>
        <p:spPr>
          <a:xfrm>
            <a:off x="3465576" y="1920240"/>
            <a:ext cx="2514600" cy="7315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3602736" y="4663440"/>
            <a:ext cx="2240280" cy="365760"/>
          </a:xfrm>
          <a:prstGeom prst="roundRect">
            <a:avLst/>
          </a:prstGeom>
          <a:solidFill>
            <a:srgbClr val="FEF3C7"/>
          </a:solidFill>
          <a:ln w="1270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D97706"/>
                </a:solidFill>
                <a:latin typeface="Consolas"/>
              </a:defRPr>
            </a:pPr>
            <a:r>
              <a:t>ACTION: EXPEDITE SHIPMENT</a:t>
            </a:r>
          </a:p>
        </p:txBody>
      </p:sp>
      <p:sp>
        <p:nvSpPr>
          <p:cNvPr id="12" name="Rounded Rectangle 11"/>
          <p:cNvSpPr/>
          <p:nvPr/>
        </p:nvSpPr>
        <p:spPr>
          <a:xfrm>
            <a:off x="6199632" y="1920240"/>
            <a:ext cx="2514600" cy="3291840"/>
          </a:xfrm>
          <a:prstGeom prst="roundRect">
            <a:avLst/>
          </a:prstGeom>
          <a:solidFill>
            <a:srgbClr val="FFFFFF"/>
          </a:solidFill>
          <a:ln w="1905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1000"/>
              </a:spcBef>
              <a:defRPr sz="1400" b="1">
                <a:solidFill>
                  <a:srgbClr val="7C3AED"/>
                </a:solidFill>
                <a:latin typeface="Arial"/>
              </a:defRPr>
            </a:pPr>
            <a:r>
              <a:t>ANOMALY DETECTED</a:t>
            </a:r>
          </a:p>
          <a:p>
            <a:pPr>
              <a:spcBef>
                <a:spcPts val="400"/>
              </a:spcBef>
              <a:defRPr sz="1200" b="1">
                <a:solidFill>
                  <a:srgbClr val="0F172A"/>
                </a:solidFill>
                <a:latin typeface="Consolas"/>
              </a:defRPr>
            </a:pPr>
            <a:r>
              <a:t>Z-Score &gt; 2.58 (p &lt; 0.01)</a:t>
            </a:r>
          </a:p>
          <a:p>
            <a:pPr>
              <a:spcBef>
                <a:spcPts val="800"/>
              </a:spcBef>
              <a:defRPr sz="1100">
                <a:solidFill>
                  <a:srgbClr val="334155"/>
                </a:solidFill>
                <a:latin typeface="Arial"/>
              </a:defRPr>
            </a:pPr>
            <a:r>
              <a:t>Sudden statistical consumption spike detected. Cross-referenced with local flood reports and fever cases.</a:t>
            </a:r>
          </a:p>
        </p:txBody>
      </p:sp>
      <p:sp>
        <p:nvSpPr>
          <p:cNvPr id="13" name="Rectangle 12"/>
          <p:cNvSpPr/>
          <p:nvPr/>
        </p:nvSpPr>
        <p:spPr>
          <a:xfrm>
            <a:off x="6199632" y="1920240"/>
            <a:ext cx="2514600" cy="73152"/>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336792" y="4663440"/>
            <a:ext cx="2240280" cy="365760"/>
          </a:xfrm>
          <a:prstGeom prst="roundRect">
            <a:avLst/>
          </a:prstGeom>
          <a:solidFill>
            <a:srgbClr val="F5F3FF"/>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7C3AED"/>
                </a:solidFill>
                <a:latin typeface="Consolas"/>
              </a:defRPr>
            </a:pPr>
            <a:r>
              <a:t>ACTION: EPIDEMIC INVESTIGATION</a:t>
            </a:r>
          </a:p>
        </p:txBody>
      </p:sp>
      <p:sp>
        <p:nvSpPr>
          <p:cNvPr id="15" name="Rounded Rectangle 14"/>
          <p:cNvSpPr/>
          <p:nvPr/>
        </p:nvSpPr>
        <p:spPr>
          <a:xfrm>
            <a:off x="8933688" y="1920240"/>
            <a:ext cx="2514600" cy="3291840"/>
          </a:xfrm>
          <a:prstGeom prst="roundRect">
            <a:avLst/>
          </a:prstGeom>
          <a:solidFill>
            <a:srgbClr val="FFFFFF"/>
          </a:solidFill>
          <a:ln w="1905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1000"/>
              </a:spcBef>
              <a:defRPr sz="1400" b="1">
                <a:solidFill>
                  <a:srgbClr val="059669"/>
                </a:solidFill>
                <a:latin typeface="Arial"/>
              </a:defRPr>
            </a:pPr>
            <a:r>
              <a:t>OPTIMAL SURPLUS</a:t>
            </a:r>
          </a:p>
          <a:p>
            <a:pPr>
              <a:spcBef>
                <a:spcPts val="400"/>
              </a:spcBef>
              <a:defRPr sz="1200" b="1">
                <a:solidFill>
                  <a:srgbClr val="0F172A"/>
                </a:solidFill>
                <a:latin typeface="Consolas"/>
              </a:defRPr>
            </a:pPr>
            <a:r>
              <a:t>DOSA &gt; 14.0 Days</a:t>
            </a:r>
          </a:p>
          <a:p>
            <a:pPr>
              <a:spcBef>
                <a:spcPts val="800"/>
              </a:spcBef>
              <a:defRPr sz="1100">
                <a:solidFill>
                  <a:srgbClr val="334155"/>
                </a:solidFill>
                <a:latin typeface="Arial"/>
              </a:defRPr>
            </a:pPr>
            <a:r>
              <a:t>Verified excess inventory above required 7-day reserve buffer. Facility qualified as a transfer donor node.</a:t>
            </a:r>
          </a:p>
        </p:txBody>
      </p:sp>
      <p:sp>
        <p:nvSpPr>
          <p:cNvPr id="16" name="Rectangle 15"/>
          <p:cNvSpPr/>
          <p:nvPr/>
        </p:nvSpPr>
        <p:spPr>
          <a:xfrm>
            <a:off x="8933688" y="1920240"/>
            <a:ext cx="2514600" cy="73152"/>
          </a:xfrm>
          <a:prstGeom prst="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9070848" y="4663440"/>
            <a:ext cx="2240280" cy="365760"/>
          </a:xfrm>
          <a:prstGeom prst="roundRect">
            <a:avLst/>
          </a:prstGeom>
          <a:solidFill>
            <a:srgbClr val="ECFDF5"/>
          </a:solidFill>
          <a:ln w="1270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059669"/>
                </a:solidFill>
                <a:latin typeface="Consolas"/>
              </a:defRPr>
            </a:pPr>
            <a:r>
              <a:t>ACTION: QUALIFIED DONOR</a:t>
            </a:r>
          </a:p>
        </p:txBody>
      </p:sp>
      <p:sp>
        <p:nvSpPr>
          <p:cNvPr id="18" name="Rounded Rectangle 17"/>
          <p:cNvSpPr/>
          <p:nvPr/>
        </p:nvSpPr>
        <p:spPr>
          <a:xfrm>
            <a:off x="731520" y="5394960"/>
            <a:ext cx="10728655" cy="731520"/>
          </a:xfrm>
          <a:prstGeom prst="roundRect">
            <a:avLst/>
          </a:prstGeom>
          <a:solidFill>
            <a:srgbClr val="F0FDFA"/>
          </a:solidFill>
          <a:ln w="12700">
            <a:solidFill>
              <a:srgbClr val="0891B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0891B2"/>
                </a:solidFill>
                <a:latin typeface="Consolas"/>
              </a:defRPr>
            </a:pPr>
            <a:r>
              <a:t>CORE RESILIENCE METRIC:  DOSA = (Current Closing Stock + In-Transit Deliveries) / Predicted Daily Consumption</a:t>
            </a:r>
          </a:p>
          <a:p>
            <a:pPr algn="ctr">
              <a:spcBef>
                <a:spcPts val="200"/>
              </a:spcBef>
              <a:defRPr sz="1050">
                <a:solidFill>
                  <a:srgbClr val="64748B"/>
                </a:solidFill>
                <a:latin typeface="Arial"/>
              </a:defRPr>
            </a:pPr>
            <a:r>
              <a:t>100% deterministic calculation verified against the official National List of Essential Medicines (NLEM 2022).</a:t>
            </a:r>
          </a:p>
        </p:txBody>
      </p:sp>
      <p:sp>
        <p:nvSpPr>
          <p:cNvPr id="19" name="Rectangle 18"/>
          <p:cNvSpPr/>
          <p:nvPr/>
        </p:nvSpPr>
        <p:spPr>
          <a:xfrm>
            <a:off x="731520" y="6309360"/>
            <a:ext cx="10728655"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6355080"/>
            <a:ext cx="7315200" cy="320040"/>
          </a:xfrm>
          <a:prstGeom prst="rect">
            <a:avLst/>
          </a:prstGeom>
          <a:noFill/>
        </p:spPr>
        <p:txBody>
          <a:bodyPr wrap="none">
            <a:spAutoFit/>
          </a:bodyPr>
          <a:lstStyle/>
          <a:p>
            <a:pPr>
              <a:defRPr sz="950">
                <a:solidFill>
                  <a:srgbClr val="94A3B8"/>
                </a:solidFill>
                <a:latin typeface="Consolas"/>
              </a:defRPr>
            </a:pPr>
            <a:r>
              <a:t>SWASTHYAGRID AI • Google Cloud GenAI Hackathon 2026 • Track 3: Smart Health &amp; Resilience</a:t>
            </a:r>
          </a:p>
        </p:txBody>
      </p:sp>
      <p:sp>
        <p:nvSpPr>
          <p:cNvPr id="21" name="TextBox 20"/>
          <p:cNvSpPr txBox="1"/>
          <p:nvPr/>
        </p:nvSpPr>
        <p:spPr>
          <a:xfrm>
            <a:off x="9601200" y="6355080"/>
            <a:ext cx="1828800" cy="320040"/>
          </a:xfrm>
          <a:prstGeom prst="rect">
            <a:avLst/>
          </a:prstGeom>
          <a:noFill/>
        </p:spPr>
        <p:txBody>
          <a:bodyPr wrap="none">
            <a:spAutoFit/>
          </a:bodyPr>
          <a:lstStyle/>
          <a:p>
            <a:pPr algn="r">
              <a:defRPr sz="950" b="1">
                <a:solidFill>
                  <a:srgbClr val="1D4ED8"/>
                </a:solidFill>
                <a:latin typeface="Consolas"/>
              </a:defRPr>
            </a:pPr>
            <a:r>
              <a:t>Slide 05 of 12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47472"/>
            <a:ext cx="4114800" cy="310896"/>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1D4ED8"/>
                </a:solidFill>
                <a:latin typeface="Consolas"/>
              </a:defRPr>
            </a:pPr>
            <a:r>
              <a:t>06 / MATHEMATICAL OPTIMIZATION</a:t>
            </a:r>
          </a:p>
        </p:txBody>
      </p:sp>
      <p:sp>
        <p:nvSpPr>
          <p:cNvPr id="4" name="TextBox 3"/>
          <p:cNvSpPr txBox="1"/>
          <p:nvPr/>
        </p:nvSpPr>
        <p:spPr>
          <a:xfrm>
            <a:off x="731520" y="713232"/>
            <a:ext cx="10728655" cy="594360"/>
          </a:xfrm>
          <a:prstGeom prst="rect">
            <a:avLst/>
          </a:prstGeom>
          <a:noFill/>
        </p:spPr>
        <p:txBody>
          <a:bodyPr wrap="square">
            <a:spAutoFit/>
          </a:bodyPr>
          <a:lstStyle/>
          <a:p>
            <a:pPr>
              <a:defRPr sz="2400" b="1">
                <a:solidFill>
                  <a:srgbClr val="0F172A"/>
                </a:solidFill>
                <a:latin typeface="Arial"/>
              </a:defRPr>
            </a:pPr>
            <a:r>
              <a:t>Pillar 3: Google OR-Tools Combinatorial Rebalancing</a:t>
            </a:r>
          </a:p>
        </p:txBody>
      </p:sp>
      <p:sp>
        <p:nvSpPr>
          <p:cNvPr id="5" name="TextBox 4"/>
          <p:cNvSpPr txBox="1"/>
          <p:nvPr/>
        </p:nvSpPr>
        <p:spPr>
          <a:xfrm>
            <a:off x="731520" y="1298448"/>
            <a:ext cx="10728655" cy="365760"/>
          </a:xfrm>
          <a:prstGeom prst="rect">
            <a:avLst/>
          </a:prstGeom>
          <a:noFill/>
        </p:spPr>
        <p:txBody>
          <a:bodyPr wrap="square">
            <a:spAutoFit/>
          </a:bodyPr>
          <a:lstStyle/>
          <a:p>
            <a:pPr>
              <a:defRPr sz="1300">
                <a:solidFill>
                  <a:srgbClr val="64748B"/>
                </a:solidFill>
                <a:latin typeface="Arial"/>
              </a:defRPr>
            </a:pPr>
            <a:r>
              <a:t>Solving complex multi-facility supply redistribution under distance, capacity, and safety stock invariants.</a:t>
            </a:r>
          </a:p>
        </p:txBody>
      </p:sp>
      <p:sp>
        <p:nvSpPr>
          <p:cNvPr id="6" name="Rounded Rectangle 5"/>
          <p:cNvSpPr/>
          <p:nvPr/>
        </p:nvSpPr>
        <p:spPr>
          <a:xfrm>
            <a:off x="731520" y="1920240"/>
            <a:ext cx="5120640" cy="3291840"/>
          </a:xfrm>
          <a:prstGeom prst="roundRect">
            <a:avLst/>
          </a:prstGeom>
          <a:solidFill>
            <a:srgbClr val="FFFFFF"/>
          </a:solidFill>
          <a:ln w="1905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059669"/>
                </a:solidFill>
                <a:latin typeface="Arial"/>
              </a:defRPr>
            </a:pPr>
            <a:r>
              <a:t>Objective Function &amp; Mathematical Goal</a:t>
            </a:r>
          </a:p>
          <a:p>
            <a:br/>
            <a:pPr>
              <a:defRPr sz="1200">
                <a:solidFill>
                  <a:srgbClr val="1E293B"/>
                </a:solidFill>
                <a:latin typeface="Arial"/>
              </a:defRPr>
            </a:pPr>
            <a:r>
              <a:t>• Minimizes aggregate vehicle transport distance across the road network.</a:t>
            </a:r>
            <a:br/>
            <a:r>
              <a:t>• Heavily penalizes any unfulfilled deficit at critical healthcare clinics.</a:t>
            </a:r>
            <a:br/>
            <a:r>
              <a:t>• Solved via Mixed-Integer Linear Programming (MILP) using Google OR-Tools CBC engine.</a:t>
            </a:r>
          </a:p>
        </p:txBody>
      </p:sp>
      <p:sp>
        <p:nvSpPr>
          <p:cNvPr id="7" name="Rectangle 6"/>
          <p:cNvSpPr/>
          <p:nvPr/>
        </p:nvSpPr>
        <p:spPr>
          <a:xfrm>
            <a:off x="1005840" y="2514600"/>
            <a:ext cx="4572000" cy="822960"/>
          </a:xfrm>
          <a:prstGeom prst="rect">
            <a:avLst/>
          </a:prstGeom>
          <a:solidFill>
            <a:srgbClr val="ECFDF5"/>
          </a:solidFill>
          <a:ln w="1270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059669"/>
                </a:solidFill>
                <a:latin typeface="Consolas"/>
              </a:defRPr>
            </a:pPr>
            <a:r>
              <a:t>min  ∑ Distance(i, j) * x_i,j + ∑ Penalty_j * UnmetDeficit_j</a:t>
            </a:r>
          </a:p>
        </p:txBody>
      </p:sp>
      <p:sp>
        <p:nvSpPr>
          <p:cNvPr id="8" name="Rounded Rectangle 7"/>
          <p:cNvSpPr/>
          <p:nvPr/>
        </p:nvSpPr>
        <p:spPr>
          <a:xfrm>
            <a:off x="6339535" y="1920240"/>
            <a:ext cx="5120640" cy="329184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1D4ED8"/>
                </a:solidFill>
                <a:latin typeface="Arial"/>
              </a:defRPr>
            </a:pPr>
            <a:r>
              <a:t>Inviolable Operational Constraints</a:t>
            </a:r>
          </a:p>
          <a:p>
            <a:pPr>
              <a:spcBef>
                <a:spcPts val="600"/>
              </a:spcBef>
              <a:defRPr sz="1150">
                <a:solidFill>
                  <a:srgbClr val="1E293B"/>
                </a:solidFill>
                <a:latin typeface="Arial"/>
              </a:defRPr>
            </a:pPr>
            <a:r>
              <a:t>1. Donor Safety Stock Invariant: Stock_donor - Transferred &gt;= SafetyStock_donor</a:t>
            </a:r>
            <a:br/>
            <a:r>
              <a:t>   (A donor facility is NEVER left in deficit!).</a:t>
            </a:r>
          </a:p>
          <a:p>
            <a:pPr>
              <a:spcBef>
                <a:spcPts val="600"/>
              </a:spcBef>
              <a:defRPr sz="1150">
                <a:solidFill>
                  <a:srgbClr val="1E293B"/>
                </a:solidFill>
                <a:latin typeface="Arial"/>
              </a:defRPr>
            </a:pPr>
            <a:r>
              <a:t>2. Maximum 50 km Road Transit Radius: Guarantees same-day delivery &amp; cold-chain validity.</a:t>
            </a:r>
          </a:p>
          <a:p>
            <a:pPr>
              <a:spcBef>
                <a:spcPts val="600"/>
              </a:spcBef>
              <a:defRPr sz="1150">
                <a:solidFill>
                  <a:srgbClr val="1E293B"/>
                </a:solidFill>
                <a:latin typeface="Arial"/>
              </a:defRPr>
            </a:pPr>
            <a:r>
              <a:t>3. Rural Vehicle Capacity Limits: Accounts for cargo bounds of two-wheelers &amp; ambulances.</a:t>
            </a:r>
          </a:p>
          <a:p>
            <a:pPr>
              <a:spcBef>
                <a:spcPts val="600"/>
              </a:spcBef>
              <a:defRPr sz="1150">
                <a:solidFill>
                  <a:srgbClr val="1E293B"/>
                </a:solidFill>
                <a:latin typeface="Arial"/>
              </a:defRPr>
            </a:pPr>
            <a:r>
              <a:t>4. Exact Integer Packaging: Transfers discrete medicine pack units without fractional splitting.</a:t>
            </a:r>
          </a:p>
        </p:txBody>
      </p:sp>
      <p:sp>
        <p:nvSpPr>
          <p:cNvPr id="9" name="Rounded Rectangle 8"/>
          <p:cNvSpPr/>
          <p:nvPr/>
        </p:nvSpPr>
        <p:spPr>
          <a:xfrm>
            <a:off x="731520" y="5394960"/>
            <a:ext cx="2514600" cy="73152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a:solidFill>
                  <a:srgbClr val="64748B"/>
                </a:solidFill>
                <a:latin typeface="Arial"/>
              </a:defRPr>
            </a:pPr>
            <a:r>
              <a:t>Solver Engine</a:t>
            </a:r>
          </a:p>
          <a:p>
            <a:pPr algn="ctr">
              <a:spcBef>
                <a:spcPts val="200"/>
              </a:spcBef>
              <a:defRPr sz="1300" b="1">
                <a:solidFill>
                  <a:srgbClr val="1D4ED8"/>
                </a:solidFill>
                <a:latin typeface="Arial"/>
              </a:defRPr>
            </a:pPr>
            <a:r>
              <a:t>Google OR-Tools CBC</a:t>
            </a:r>
          </a:p>
        </p:txBody>
      </p:sp>
      <p:sp>
        <p:nvSpPr>
          <p:cNvPr id="10" name="Rounded Rectangle 9"/>
          <p:cNvSpPr/>
          <p:nvPr/>
        </p:nvSpPr>
        <p:spPr>
          <a:xfrm>
            <a:off x="3465576" y="5394960"/>
            <a:ext cx="2514600" cy="73152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a:solidFill>
                  <a:srgbClr val="64748B"/>
                </a:solidFill>
                <a:latin typeface="Arial"/>
              </a:defRPr>
            </a:pPr>
            <a:r>
              <a:t>Solve Latency</a:t>
            </a:r>
          </a:p>
          <a:p>
            <a:pPr algn="ctr">
              <a:spcBef>
                <a:spcPts val="200"/>
              </a:spcBef>
              <a:defRPr sz="1300" b="1">
                <a:solidFill>
                  <a:srgbClr val="059669"/>
                </a:solidFill>
                <a:latin typeface="Arial"/>
              </a:defRPr>
            </a:pPr>
            <a:r>
              <a:t>&lt; 45 milliseconds</a:t>
            </a:r>
          </a:p>
        </p:txBody>
      </p:sp>
      <p:sp>
        <p:nvSpPr>
          <p:cNvPr id="11" name="Rounded Rectangle 10"/>
          <p:cNvSpPr/>
          <p:nvPr/>
        </p:nvSpPr>
        <p:spPr>
          <a:xfrm>
            <a:off x="6199632" y="5394960"/>
            <a:ext cx="2514600" cy="73152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a:solidFill>
                  <a:srgbClr val="64748B"/>
                </a:solidFill>
                <a:latin typeface="Arial"/>
              </a:defRPr>
            </a:pPr>
            <a:r>
              <a:t>Deficit Resolution</a:t>
            </a:r>
          </a:p>
          <a:p>
            <a:pPr algn="ctr">
              <a:spcBef>
                <a:spcPts val="200"/>
              </a:spcBef>
              <a:defRPr sz="1300" b="1">
                <a:solidFill>
                  <a:srgbClr val="2563EB"/>
                </a:solidFill>
                <a:latin typeface="Arial"/>
              </a:defRPr>
            </a:pPr>
            <a:r>
              <a:t>98.4% Resolved</a:t>
            </a:r>
          </a:p>
        </p:txBody>
      </p:sp>
      <p:sp>
        <p:nvSpPr>
          <p:cNvPr id="12" name="Rounded Rectangle 11"/>
          <p:cNvSpPr/>
          <p:nvPr/>
        </p:nvSpPr>
        <p:spPr>
          <a:xfrm>
            <a:off x="8933688" y="5394960"/>
            <a:ext cx="2514600" cy="73152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a:solidFill>
                  <a:srgbClr val="64748B"/>
                </a:solidFill>
                <a:latin typeface="Arial"/>
              </a:defRPr>
            </a:pPr>
            <a:r>
              <a:t>Donor Risk Incurred</a:t>
            </a:r>
          </a:p>
          <a:p>
            <a:pPr algn="ctr">
              <a:spcBef>
                <a:spcPts val="200"/>
              </a:spcBef>
              <a:defRPr sz="1300" b="1">
                <a:solidFill>
                  <a:srgbClr val="059669"/>
                </a:solidFill>
                <a:latin typeface="Arial"/>
              </a:defRPr>
            </a:pPr>
            <a:r>
              <a:t>0.00% (Strictly Zero)</a:t>
            </a:r>
          </a:p>
        </p:txBody>
      </p:sp>
      <p:sp>
        <p:nvSpPr>
          <p:cNvPr id="13" name="Rectangle 12"/>
          <p:cNvSpPr/>
          <p:nvPr/>
        </p:nvSpPr>
        <p:spPr>
          <a:xfrm>
            <a:off x="731520" y="6309360"/>
            <a:ext cx="10728655"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6355080"/>
            <a:ext cx="7315200" cy="320040"/>
          </a:xfrm>
          <a:prstGeom prst="rect">
            <a:avLst/>
          </a:prstGeom>
          <a:noFill/>
        </p:spPr>
        <p:txBody>
          <a:bodyPr wrap="none">
            <a:spAutoFit/>
          </a:bodyPr>
          <a:lstStyle/>
          <a:p>
            <a:pPr>
              <a:defRPr sz="950">
                <a:solidFill>
                  <a:srgbClr val="94A3B8"/>
                </a:solidFill>
                <a:latin typeface="Consolas"/>
              </a:defRPr>
            </a:pPr>
            <a:r>
              <a:t>SWASTHYAGRID AI • Google Cloud GenAI Hackathon 2026 • Track 3: Smart Health &amp; Resilience</a:t>
            </a:r>
          </a:p>
        </p:txBody>
      </p:sp>
      <p:sp>
        <p:nvSpPr>
          <p:cNvPr id="15" name="TextBox 14"/>
          <p:cNvSpPr txBox="1"/>
          <p:nvPr/>
        </p:nvSpPr>
        <p:spPr>
          <a:xfrm>
            <a:off x="9601200" y="6355080"/>
            <a:ext cx="1828800" cy="320040"/>
          </a:xfrm>
          <a:prstGeom prst="rect">
            <a:avLst/>
          </a:prstGeom>
          <a:noFill/>
        </p:spPr>
        <p:txBody>
          <a:bodyPr wrap="none">
            <a:spAutoFit/>
          </a:bodyPr>
          <a:lstStyle/>
          <a:p>
            <a:pPr algn="r">
              <a:defRPr sz="950" b="1">
                <a:solidFill>
                  <a:srgbClr val="1D4ED8"/>
                </a:solidFill>
                <a:latin typeface="Consolas"/>
              </a:defRPr>
            </a:pPr>
            <a:r>
              <a:t>Slide 06 of 12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47472"/>
            <a:ext cx="4114800" cy="310896"/>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1D4ED8"/>
                </a:solidFill>
                <a:latin typeface="Consolas"/>
              </a:defRPr>
            </a:pPr>
            <a:r>
              <a:t>07 / GENERATIVE AI</a:t>
            </a:r>
          </a:p>
        </p:txBody>
      </p:sp>
      <p:sp>
        <p:nvSpPr>
          <p:cNvPr id="4" name="TextBox 3"/>
          <p:cNvSpPr txBox="1"/>
          <p:nvPr/>
        </p:nvSpPr>
        <p:spPr>
          <a:xfrm>
            <a:off x="731520" y="713232"/>
            <a:ext cx="10728655" cy="594360"/>
          </a:xfrm>
          <a:prstGeom prst="rect">
            <a:avLst/>
          </a:prstGeom>
          <a:noFill/>
        </p:spPr>
        <p:txBody>
          <a:bodyPr wrap="square">
            <a:spAutoFit/>
          </a:bodyPr>
          <a:lstStyle/>
          <a:p>
            <a:pPr>
              <a:defRPr sz="2400" b="1">
                <a:solidFill>
                  <a:srgbClr val="0F172A"/>
                </a:solidFill>
                <a:latin typeface="Arial"/>
              </a:defRPr>
            </a:pPr>
            <a:r>
              <a:t>Pillar 4: Grounded Gemini 2.5 Flash Operations Copilot</a:t>
            </a:r>
          </a:p>
        </p:txBody>
      </p:sp>
      <p:sp>
        <p:nvSpPr>
          <p:cNvPr id="5" name="TextBox 4"/>
          <p:cNvSpPr txBox="1"/>
          <p:nvPr/>
        </p:nvSpPr>
        <p:spPr>
          <a:xfrm>
            <a:off x="731520" y="1298448"/>
            <a:ext cx="10728655" cy="365760"/>
          </a:xfrm>
          <a:prstGeom prst="rect">
            <a:avLst/>
          </a:prstGeom>
          <a:noFill/>
        </p:spPr>
        <p:txBody>
          <a:bodyPr wrap="square">
            <a:spAutoFit/>
          </a:bodyPr>
          <a:lstStyle/>
          <a:p>
            <a:pPr>
              <a:defRPr sz="1300">
                <a:solidFill>
                  <a:srgbClr val="64748B"/>
                </a:solidFill>
                <a:latin typeface="Arial"/>
              </a:defRPr>
            </a:pPr>
            <a:r>
              <a:t>Auditable, hallucination-free decision support with full tool-calling transparency.</a:t>
            </a:r>
          </a:p>
        </p:txBody>
      </p:sp>
      <p:sp>
        <p:nvSpPr>
          <p:cNvPr id="6" name="Rounded Rectangle 5"/>
          <p:cNvSpPr/>
          <p:nvPr/>
        </p:nvSpPr>
        <p:spPr>
          <a:xfrm>
            <a:off x="731520" y="1920240"/>
            <a:ext cx="5120640" cy="4114800"/>
          </a:xfrm>
          <a:prstGeom prst="roundRect">
            <a:avLst/>
          </a:prstGeom>
          <a:solidFill>
            <a:srgbClr val="FFFFFF"/>
          </a:solidFill>
          <a:ln w="1905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7C3AED"/>
                </a:solidFill>
                <a:latin typeface="Arial"/>
              </a:defRPr>
            </a:pPr>
            <a:r>
              <a:t>Grounded Copilot Architecture</a:t>
            </a:r>
          </a:p>
          <a:p>
            <a:pPr>
              <a:spcBef>
                <a:spcPts val="1000"/>
              </a:spcBef>
              <a:defRPr sz="1200">
                <a:solidFill>
                  <a:srgbClr val="1E293B"/>
                </a:solidFill>
                <a:latin typeface="Arial"/>
              </a:defRPr>
            </a:pPr>
            <a:r>
              <a:t>• 10+ Deterministic Tool Bindings: Gemini never guesses inventory numbers. Autonomously calls get_facility_status(), calculate_stock_risk(), and run_redistribution_solver().</a:t>
            </a:r>
          </a:p>
          <a:p>
            <a:pPr>
              <a:spcBef>
                <a:spcPts val="1000"/>
              </a:spcBef>
              <a:defRPr sz="1200">
                <a:solidFill>
                  <a:srgbClr val="1E293B"/>
                </a:solidFill>
                <a:latin typeface="Arial"/>
              </a:defRPr>
            </a:pPr>
            <a:r>
              <a:t>• 1-Click Evidence Drawer: Displays raw database queries, timestamps, and tool logs for complete legal &amp; medical auditability.</a:t>
            </a:r>
          </a:p>
          <a:p>
            <a:pPr>
              <a:spcBef>
                <a:spcPts val="1000"/>
              </a:spcBef>
              <a:defRPr sz="1200">
                <a:solidFill>
                  <a:srgbClr val="1E293B"/>
                </a:solidFill>
                <a:latin typeface="Arial"/>
              </a:defRPr>
            </a:pPr>
            <a:r>
              <a:t>• Bilingual Voice &amp; Text: Natural Hindi and English conversation for rural health workers (e.g. 'कौन सा केंद्र पैरासिटामोल भेज सकता है?').</a:t>
            </a:r>
          </a:p>
          <a:p>
            <a:pPr>
              <a:spcBef>
                <a:spcPts val="1000"/>
              </a:spcBef>
              <a:defRPr sz="1200">
                <a:solidFill>
                  <a:srgbClr val="1E293B"/>
                </a:solidFill>
                <a:latin typeface="Arial"/>
              </a:defRPr>
            </a:pPr>
            <a:r>
              <a:t>• What-If Policy Sandbox: Enables health directors to simulate demand spikes (+30%) and road delays before approving actual logistics orders.</a:t>
            </a:r>
          </a:p>
        </p:txBody>
      </p:sp>
      <p:sp>
        <p:nvSpPr>
          <p:cNvPr id="7" name="Rounded Rectangle 6"/>
          <p:cNvSpPr/>
          <p:nvPr/>
        </p:nvSpPr>
        <p:spPr>
          <a:xfrm>
            <a:off x="6339535" y="1920240"/>
            <a:ext cx="5120640" cy="411480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1D4ED8"/>
                </a:solidFill>
                <a:latin typeface="Arial"/>
              </a:defRPr>
            </a:pPr>
            <a:r>
              <a:t>💬 Swasthya Copilot • Gemini 2.5 Flash</a:t>
            </a:r>
          </a:p>
        </p:txBody>
      </p:sp>
      <p:sp>
        <p:nvSpPr>
          <p:cNvPr id="8" name="Rounded Rectangle 7"/>
          <p:cNvSpPr/>
          <p:nvPr/>
        </p:nvSpPr>
        <p:spPr>
          <a:xfrm>
            <a:off x="6613855" y="2560320"/>
            <a:ext cx="4572000" cy="731520"/>
          </a:xfrm>
          <a:prstGeom prst="round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a:solidFill>
                  <a:srgbClr val="FFFFFF"/>
                </a:solidFill>
                <a:latin typeface="Arial"/>
              </a:defRPr>
            </a:pPr>
            <a:r>
              <a:t>Why is PHC Bakhtiyarpur flagged at CRITICAL risk for Paracetamol?</a:t>
            </a:r>
          </a:p>
        </p:txBody>
      </p:sp>
      <p:sp>
        <p:nvSpPr>
          <p:cNvPr id="9" name="Rounded Rectangle 8"/>
          <p:cNvSpPr/>
          <p:nvPr/>
        </p:nvSpPr>
        <p:spPr>
          <a:xfrm>
            <a:off x="6613855" y="3474720"/>
            <a:ext cx="4572000" cy="2286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a:solidFill>
                  <a:srgbClr val="1E293B"/>
                </a:solidFill>
                <a:latin typeface="Arial"/>
              </a:defRPr>
            </a:pPr>
            <a:r>
              <a:t>PHC Bakhtiyarpur (PHC-BR-PAT-001) current stock is 320 packs against a predicted daily consumption of 169 packs/day (DOSA = 1.89 days). Complete stockout projected in 45 hours.</a:t>
            </a:r>
          </a:p>
          <a:p>
            <a:pPr>
              <a:spcBef>
                <a:spcPts val="800"/>
              </a:spcBef>
              <a:defRPr sz="1000" b="1">
                <a:solidFill>
                  <a:srgbClr val="059669"/>
                </a:solidFill>
                <a:latin typeface="Consolas"/>
              </a:defRPr>
            </a:pPr>
            <a:r>
              <a:t>🛡️ Verified Evidence: inventory_telemetry • risk_engine_v1</a:t>
            </a:r>
          </a:p>
          <a:p>
            <a:pPr>
              <a:spcBef>
                <a:spcPts val="800"/>
              </a:spcBef>
              <a:defRPr sz="1150" b="1">
                <a:solidFill>
                  <a:srgbClr val="1D4ED8"/>
                </a:solidFill>
                <a:latin typeface="Arial"/>
              </a:defRPr>
            </a:pPr>
            <a:r>
              <a:t>Recommendation: Google OR-Tools recommends transferring 600 units from PHC Danapur (18.4 km away), which holds 3,500 surplus packs. Click 'Approve Order' to dispatch.</a:t>
            </a:r>
          </a:p>
        </p:txBody>
      </p:sp>
      <p:sp>
        <p:nvSpPr>
          <p:cNvPr id="10" name="Rectangle 9"/>
          <p:cNvSpPr/>
          <p:nvPr/>
        </p:nvSpPr>
        <p:spPr>
          <a:xfrm>
            <a:off x="731520" y="6309360"/>
            <a:ext cx="10728655"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6355080"/>
            <a:ext cx="7315200" cy="320040"/>
          </a:xfrm>
          <a:prstGeom prst="rect">
            <a:avLst/>
          </a:prstGeom>
          <a:noFill/>
        </p:spPr>
        <p:txBody>
          <a:bodyPr wrap="none">
            <a:spAutoFit/>
          </a:bodyPr>
          <a:lstStyle/>
          <a:p>
            <a:pPr>
              <a:defRPr sz="950">
                <a:solidFill>
                  <a:srgbClr val="94A3B8"/>
                </a:solidFill>
                <a:latin typeface="Consolas"/>
              </a:defRPr>
            </a:pPr>
            <a:r>
              <a:t>SWASTHYAGRID AI • Google Cloud GenAI Hackathon 2026 • Track 3: Smart Health &amp; Resilience</a:t>
            </a:r>
          </a:p>
        </p:txBody>
      </p:sp>
      <p:sp>
        <p:nvSpPr>
          <p:cNvPr id="12" name="TextBox 11"/>
          <p:cNvSpPr txBox="1"/>
          <p:nvPr/>
        </p:nvSpPr>
        <p:spPr>
          <a:xfrm>
            <a:off x="9601200" y="6355080"/>
            <a:ext cx="1828800" cy="320040"/>
          </a:xfrm>
          <a:prstGeom prst="rect">
            <a:avLst/>
          </a:prstGeom>
          <a:noFill/>
        </p:spPr>
        <p:txBody>
          <a:bodyPr wrap="none">
            <a:spAutoFit/>
          </a:bodyPr>
          <a:lstStyle/>
          <a:p>
            <a:pPr algn="r">
              <a:defRPr sz="950" b="1">
                <a:solidFill>
                  <a:srgbClr val="1D4ED8"/>
                </a:solidFill>
                <a:latin typeface="Consolas"/>
              </a:defRPr>
            </a:pPr>
            <a:r>
              <a:t>Slide 07 of 12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47472"/>
            <a:ext cx="4114800" cy="310896"/>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1D4ED8"/>
                </a:solidFill>
                <a:latin typeface="Consolas"/>
              </a:defRPr>
            </a:pPr>
            <a:r>
              <a:t>08 / LIVE DEMONSTRATION</a:t>
            </a:r>
          </a:p>
        </p:txBody>
      </p:sp>
      <p:sp>
        <p:nvSpPr>
          <p:cNvPr id="4" name="TextBox 3"/>
          <p:cNvSpPr txBox="1"/>
          <p:nvPr/>
        </p:nvSpPr>
        <p:spPr>
          <a:xfrm>
            <a:off x="731520" y="713232"/>
            <a:ext cx="10728655" cy="594360"/>
          </a:xfrm>
          <a:prstGeom prst="rect">
            <a:avLst/>
          </a:prstGeom>
          <a:noFill/>
        </p:spPr>
        <p:txBody>
          <a:bodyPr wrap="square">
            <a:spAutoFit/>
          </a:bodyPr>
          <a:lstStyle/>
          <a:p>
            <a:pPr>
              <a:defRPr sz="2400" b="1">
                <a:solidFill>
                  <a:srgbClr val="0F172A"/>
                </a:solidFill>
                <a:latin typeface="Arial"/>
              </a:defRPr>
            </a:pPr>
            <a:r>
              <a:t>Demonstrated Live: Monsoon Flood Outbreak &amp; Auto-Rebalancing</a:t>
            </a:r>
          </a:p>
        </p:txBody>
      </p:sp>
      <p:sp>
        <p:nvSpPr>
          <p:cNvPr id="5" name="TextBox 4"/>
          <p:cNvSpPr txBox="1"/>
          <p:nvPr/>
        </p:nvSpPr>
        <p:spPr>
          <a:xfrm>
            <a:off x="731520" y="1298448"/>
            <a:ext cx="10728655" cy="365760"/>
          </a:xfrm>
          <a:prstGeom prst="rect">
            <a:avLst/>
          </a:prstGeom>
          <a:noFill/>
        </p:spPr>
        <p:txBody>
          <a:bodyPr wrap="square">
            <a:spAutoFit/>
          </a:bodyPr>
          <a:lstStyle/>
          <a:p>
            <a:pPr>
              <a:defRPr sz="1300">
                <a:solidFill>
                  <a:srgbClr val="64748B"/>
                </a:solidFill>
                <a:latin typeface="Arial"/>
              </a:defRPr>
            </a:pPr>
            <a:r>
              <a:t>From sudden disaster shock to optimal mathematical resolution in under 2 hours.</a:t>
            </a:r>
          </a:p>
        </p:txBody>
      </p:sp>
      <p:sp>
        <p:nvSpPr>
          <p:cNvPr id="6" name="Rounded Rectangle 5"/>
          <p:cNvSpPr/>
          <p:nvPr/>
        </p:nvSpPr>
        <p:spPr>
          <a:xfrm>
            <a:off x="731520" y="1920240"/>
            <a:ext cx="5120640" cy="4114800"/>
          </a:xfrm>
          <a:prstGeom prst="roundRect">
            <a:avLst/>
          </a:prstGeom>
          <a:solidFill>
            <a:srgbClr val="FFFFFF"/>
          </a:solidFill>
          <a:ln w="1905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800"/>
              </a:spcBef>
              <a:defRPr sz="1600" b="1">
                <a:solidFill>
                  <a:srgbClr val="DC2626"/>
                </a:solidFill>
                <a:latin typeface="Arial"/>
              </a:defRPr>
            </a:pPr>
            <a:r>
              <a:t>1. THE CRISIS SHOCK (PHC Bakhtiyarpur)</a:t>
            </a:r>
          </a:p>
          <a:p>
            <a:pPr>
              <a:spcBef>
                <a:spcPts val="800"/>
              </a:spcBef>
              <a:defRPr sz="1200">
                <a:solidFill>
                  <a:srgbClr val="1E293B"/>
                </a:solidFill>
                <a:latin typeface="Arial"/>
              </a:defRPr>
            </a:pPr>
            <a:r>
              <a:t>• Severe Monsoon Flood in Patna triggers sudden outbreak of acute fever and diarrhea.</a:t>
            </a:r>
          </a:p>
          <a:p>
            <a:pPr>
              <a:spcBef>
                <a:spcPts val="800"/>
              </a:spcBef>
              <a:defRPr sz="1200">
                <a:solidFill>
                  <a:srgbClr val="1E293B"/>
                </a:solidFill>
                <a:latin typeface="Arial"/>
              </a:defRPr>
            </a:pPr>
            <a:r>
              <a:t>• Outpatient OPD footfall quadruples (+320%). Daily demand jumps from 169 to 710 packs/day.</a:t>
            </a:r>
          </a:p>
          <a:p>
            <a:pPr>
              <a:spcBef>
                <a:spcPts val="800"/>
              </a:spcBef>
              <a:defRPr sz="1200">
                <a:solidFill>
                  <a:srgbClr val="1E293B"/>
                </a:solidFill>
                <a:latin typeface="Arial"/>
              </a:defRPr>
            </a:pPr>
            <a:r>
              <a:t>• Days of Stock Available (DOSA) drops from 7.68 days down to 1.83 Days (CRITICAL RED).</a:t>
            </a:r>
          </a:p>
          <a:p>
            <a:pPr>
              <a:spcBef>
                <a:spcPts val="800"/>
              </a:spcBef>
              <a:defRPr sz="1200">
                <a:solidFill>
                  <a:srgbClr val="1E293B"/>
                </a:solidFill>
                <a:latin typeface="Arial"/>
              </a:defRPr>
            </a:pPr>
            <a:r>
              <a:t>• Complete Stockout Imminent: Shelves will empty in 44 hours without immediate replenishment.</a:t>
            </a:r>
          </a:p>
          <a:p>
            <a:pPr>
              <a:spcBef>
                <a:spcPts val="800"/>
              </a:spcBef>
              <a:defRPr sz="1200">
                <a:solidFill>
                  <a:srgbClr val="1E293B"/>
                </a:solidFill>
                <a:latin typeface="Arial"/>
              </a:defRPr>
            </a:pPr>
            <a:r>
              <a:t>• Traditional Response: Bureaucratic requisition paperwork takes 5 to 7 days—guaranteeing stockout.</a:t>
            </a:r>
          </a:p>
        </p:txBody>
      </p:sp>
      <p:sp>
        <p:nvSpPr>
          <p:cNvPr id="7" name="Rectangle 6"/>
          <p:cNvSpPr/>
          <p:nvPr/>
        </p:nvSpPr>
        <p:spPr>
          <a:xfrm>
            <a:off x="731520" y="1920240"/>
            <a:ext cx="5120640" cy="7315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339535" y="1920240"/>
            <a:ext cx="5120640" cy="4114800"/>
          </a:xfrm>
          <a:prstGeom prst="roundRect">
            <a:avLst/>
          </a:prstGeom>
          <a:solidFill>
            <a:srgbClr val="FFFFFF"/>
          </a:solidFill>
          <a:ln w="1905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800"/>
              </a:spcBef>
              <a:defRPr sz="1600" b="1">
                <a:solidFill>
                  <a:srgbClr val="059669"/>
                </a:solidFill>
                <a:latin typeface="Arial"/>
              </a:defRPr>
            </a:pPr>
            <a:r>
              <a:t>2. SWASTHYAGRID RESOLUTION (38 ms)</a:t>
            </a:r>
          </a:p>
          <a:p>
            <a:pPr>
              <a:spcBef>
                <a:spcPts val="800"/>
              </a:spcBef>
              <a:defRPr sz="1200">
                <a:solidFill>
                  <a:srgbClr val="1E293B"/>
                </a:solidFill>
                <a:latin typeface="Arial"/>
              </a:defRPr>
            </a:pPr>
            <a:r>
              <a:t>• Autonomous Detection: Risk Engine automatically raises CRITICAL alert 72 hours early.</a:t>
            </a:r>
          </a:p>
          <a:p>
            <a:pPr>
              <a:spcBef>
                <a:spcPts val="800"/>
              </a:spcBef>
              <a:defRPr sz="1200">
                <a:solidFill>
                  <a:srgbClr val="1E293B"/>
                </a:solidFill>
                <a:latin typeface="Arial"/>
              </a:defRPr>
            </a:pPr>
            <a:r>
              <a:t>• Google OR-Tools MILP Solver: Computes optimal multi-facility transfer matrix in 38 milliseconds.</a:t>
            </a:r>
          </a:p>
          <a:p>
            <a:pPr>
              <a:spcBef>
                <a:spcPts val="800"/>
              </a:spcBef>
              <a:defRPr sz="1200">
                <a:solidFill>
                  <a:srgbClr val="1E293B"/>
                </a:solidFill>
                <a:latin typeface="Arial"/>
              </a:defRPr>
            </a:pPr>
            <a:r>
              <a:t>• Optimal Donor Paired: PHC Danapur (18.4 km away via NH31) has 3,500 packs of surplus inventory.</a:t>
            </a:r>
          </a:p>
          <a:p>
            <a:pPr>
              <a:spcBef>
                <a:spcPts val="800"/>
              </a:spcBef>
              <a:defRPr sz="1200">
                <a:solidFill>
                  <a:srgbClr val="1E293B"/>
                </a:solidFill>
                <a:latin typeface="Arial"/>
              </a:defRPr>
            </a:pPr>
            <a:r>
              <a:t>• Safety Invariant Respected: Danapur retains 2,900 packs (&gt; 7-day reserve buffer maintained).</a:t>
            </a:r>
          </a:p>
          <a:p>
            <a:pPr>
              <a:spcBef>
                <a:spcPts val="800"/>
              </a:spcBef>
              <a:defRPr sz="1200">
                <a:solidFill>
                  <a:srgbClr val="1E293B"/>
                </a:solidFill>
                <a:latin typeface="Arial"/>
              </a:defRPr>
            </a:pPr>
            <a:r>
              <a:t>• Outcome: 600 packs dispatched immediately. Bakhtiyarpur DOSA restored to 8.21 Days (Zero Deficit!).</a:t>
            </a:r>
          </a:p>
        </p:txBody>
      </p:sp>
      <p:sp>
        <p:nvSpPr>
          <p:cNvPr id="9" name="Rectangle 8"/>
          <p:cNvSpPr/>
          <p:nvPr/>
        </p:nvSpPr>
        <p:spPr>
          <a:xfrm>
            <a:off x="6339535" y="1920240"/>
            <a:ext cx="5120640" cy="73152"/>
          </a:xfrm>
          <a:prstGeom prst="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6309360"/>
            <a:ext cx="10728655"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6355080"/>
            <a:ext cx="7315200" cy="320040"/>
          </a:xfrm>
          <a:prstGeom prst="rect">
            <a:avLst/>
          </a:prstGeom>
          <a:noFill/>
        </p:spPr>
        <p:txBody>
          <a:bodyPr wrap="none">
            <a:spAutoFit/>
          </a:bodyPr>
          <a:lstStyle/>
          <a:p>
            <a:pPr>
              <a:defRPr sz="950">
                <a:solidFill>
                  <a:srgbClr val="94A3B8"/>
                </a:solidFill>
                <a:latin typeface="Consolas"/>
              </a:defRPr>
            </a:pPr>
            <a:r>
              <a:t>SWASTHYAGRID AI • Google Cloud GenAI Hackathon 2026 • Track 3: Smart Health &amp; Resilience</a:t>
            </a:r>
          </a:p>
        </p:txBody>
      </p:sp>
      <p:sp>
        <p:nvSpPr>
          <p:cNvPr id="12" name="TextBox 11"/>
          <p:cNvSpPr txBox="1"/>
          <p:nvPr/>
        </p:nvSpPr>
        <p:spPr>
          <a:xfrm>
            <a:off x="9601200" y="6355080"/>
            <a:ext cx="1828800" cy="320040"/>
          </a:xfrm>
          <a:prstGeom prst="rect">
            <a:avLst/>
          </a:prstGeom>
          <a:noFill/>
        </p:spPr>
        <p:txBody>
          <a:bodyPr wrap="none">
            <a:spAutoFit/>
          </a:bodyPr>
          <a:lstStyle/>
          <a:p>
            <a:pPr algn="r">
              <a:defRPr sz="950" b="1">
                <a:solidFill>
                  <a:srgbClr val="1D4ED8"/>
                </a:solidFill>
                <a:latin typeface="Consolas"/>
              </a:defRPr>
            </a:pPr>
            <a:r>
              <a:t>Slide 08 of 12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47472"/>
            <a:ext cx="4114800" cy="310896"/>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1D4ED8"/>
                </a:solidFill>
                <a:latin typeface="Consolas"/>
              </a:defRPr>
            </a:pPr>
            <a:r>
              <a:t>09 / TECHNICAL ARCHITECTURE</a:t>
            </a:r>
          </a:p>
        </p:txBody>
      </p:sp>
      <p:sp>
        <p:nvSpPr>
          <p:cNvPr id="4" name="TextBox 3"/>
          <p:cNvSpPr txBox="1"/>
          <p:nvPr/>
        </p:nvSpPr>
        <p:spPr>
          <a:xfrm>
            <a:off x="731520" y="713232"/>
            <a:ext cx="10728655" cy="594360"/>
          </a:xfrm>
          <a:prstGeom prst="rect">
            <a:avLst/>
          </a:prstGeom>
          <a:noFill/>
        </p:spPr>
        <p:txBody>
          <a:bodyPr wrap="square">
            <a:spAutoFit/>
          </a:bodyPr>
          <a:lstStyle/>
          <a:p>
            <a:pPr>
              <a:defRPr sz="2400" b="1">
                <a:solidFill>
                  <a:srgbClr val="0F172A"/>
                </a:solidFill>
                <a:latin typeface="Arial"/>
              </a:defRPr>
            </a:pPr>
            <a:r>
              <a:t>Enterprise Google Cloud Infrastructure in Region asia-south1</a:t>
            </a:r>
          </a:p>
        </p:txBody>
      </p:sp>
      <p:sp>
        <p:nvSpPr>
          <p:cNvPr id="5" name="TextBox 4"/>
          <p:cNvSpPr txBox="1"/>
          <p:nvPr/>
        </p:nvSpPr>
        <p:spPr>
          <a:xfrm>
            <a:off x="731520" y="1298448"/>
            <a:ext cx="10728655" cy="365760"/>
          </a:xfrm>
          <a:prstGeom prst="rect">
            <a:avLst/>
          </a:prstGeom>
          <a:noFill/>
        </p:spPr>
        <p:txBody>
          <a:bodyPr wrap="square">
            <a:spAutoFit/>
          </a:bodyPr>
          <a:lstStyle/>
          <a:p>
            <a:pPr>
              <a:defRPr sz="1300">
                <a:solidFill>
                  <a:srgbClr val="64748B"/>
                </a:solidFill>
                <a:latin typeface="Arial"/>
              </a:defRPr>
            </a:pPr>
            <a:r>
              <a:t>Serverless, scalable, and grounded in official public government healthcare data.</a:t>
            </a:r>
          </a:p>
        </p:txBody>
      </p:sp>
      <p:sp>
        <p:nvSpPr>
          <p:cNvPr id="6" name="Rounded Rectangle 5"/>
          <p:cNvSpPr/>
          <p:nvPr/>
        </p:nvSpPr>
        <p:spPr>
          <a:xfrm>
            <a:off x="731520" y="1920240"/>
            <a:ext cx="3383280" cy="411480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1200"/>
              </a:spcBef>
              <a:defRPr sz="1500" b="1">
                <a:solidFill>
                  <a:srgbClr val="2563EB"/>
                </a:solidFill>
                <a:latin typeface="Arial"/>
              </a:defRPr>
            </a:pPr>
            <a:r>
              <a:t>CLIENT &amp; GATEWAY</a:t>
            </a:r>
          </a:p>
          <a:p>
            <a:pPr>
              <a:spcBef>
                <a:spcPts val="1400"/>
              </a:spcBef>
              <a:defRPr sz="1200">
                <a:solidFill>
                  <a:srgbClr val="1E293B"/>
                </a:solidFill>
                <a:latin typeface="Arial"/>
              </a:defRPr>
            </a:pPr>
            <a:r>
              <a:t>•  React 19 + TypeScript + Leaflet GIS</a:t>
            </a:r>
          </a:p>
          <a:p>
            <a:pPr>
              <a:spcBef>
                <a:spcPts val="1400"/>
              </a:spcBef>
              <a:defRPr sz="1200">
                <a:solidFill>
                  <a:srgbClr val="1E293B"/>
                </a:solidFill>
                <a:latin typeface="Arial"/>
              </a:defRPr>
            </a:pPr>
            <a:r>
              <a:t>•  FastAPI Gateway on Google Cloud Run</a:t>
            </a:r>
          </a:p>
          <a:p>
            <a:pPr>
              <a:spcBef>
                <a:spcPts val="1400"/>
              </a:spcBef>
              <a:defRPr sz="1200">
                <a:solidFill>
                  <a:srgbClr val="1E293B"/>
                </a:solidFill>
                <a:latin typeface="Arial"/>
              </a:defRPr>
            </a:pPr>
            <a:r>
              <a:t>•  Role-Based Access Control (RBAC)</a:t>
            </a:r>
          </a:p>
          <a:p>
            <a:pPr>
              <a:spcBef>
                <a:spcPts val="1400"/>
              </a:spcBef>
              <a:defRPr sz="1200">
                <a:solidFill>
                  <a:srgbClr val="1E293B"/>
                </a:solidFill>
                <a:latin typeface="Arial"/>
              </a:defRPr>
            </a:pPr>
            <a:r>
              <a:t>•  Stateless, auto-scaling container</a:t>
            </a:r>
          </a:p>
        </p:txBody>
      </p:sp>
      <p:sp>
        <p:nvSpPr>
          <p:cNvPr id="7" name="Rectangle 6"/>
          <p:cNvSpPr/>
          <p:nvPr/>
        </p:nvSpPr>
        <p:spPr>
          <a:xfrm>
            <a:off x="731520" y="1920240"/>
            <a:ext cx="3383280" cy="7315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389120" y="1920240"/>
            <a:ext cx="3383280" cy="4114800"/>
          </a:xfrm>
          <a:prstGeom prst="roundRect">
            <a:avLst/>
          </a:prstGeom>
          <a:solidFill>
            <a:srgbClr val="FFFFFF"/>
          </a:solidFill>
          <a:ln w="1905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1200"/>
              </a:spcBef>
              <a:defRPr sz="1500" b="1">
                <a:solidFill>
                  <a:srgbClr val="7C3AED"/>
                </a:solidFill>
                <a:latin typeface="Arial"/>
              </a:defRPr>
            </a:pPr>
            <a:r>
              <a:t>AI &amp; OPTIMIZATION</a:t>
            </a:r>
          </a:p>
          <a:p>
            <a:pPr>
              <a:spcBef>
                <a:spcPts val="1400"/>
              </a:spcBef>
              <a:defRPr sz="1200">
                <a:solidFill>
                  <a:srgbClr val="1E293B"/>
                </a:solidFill>
                <a:latin typeface="Arial"/>
              </a:defRPr>
            </a:pPr>
            <a:r>
              <a:t>•  Vertex AI / Gemini 2.5 Flash Copilot</a:t>
            </a:r>
          </a:p>
          <a:p>
            <a:pPr>
              <a:spcBef>
                <a:spcPts val="1400"/>
              </a:spcBef>
              <a:defRPr sz="1200">
                <a:solidFill>
                  <a:srgbClr val="1E293B"/>
                </a:solidFill>
                <a:latin typeface="Arial"/>
              </a:defRPr>
            </a:pPr>
            <a:r>
              <a:t>•  Google OR-Tools (MILP Rebalancing)</a:t>
            </a:r>
          </a:p>
          <a:p>
            <a:pPr>
              <a:spcBef>
                <a:spcPts val="1400"/>
              </a:spcBef>
              <a:defRPr sz="1200">
                <a:solidFill>
                  <a:srgbClr val="1E293B"/>
                </a:solidFill>
                <a:latin typeface="Arial"/>
              </a:defRPr>
            </a:pPr>
            <a:r>
              <a:t>•  Ridge / LightGBM Predictive Regressors</a:t>
            </a:r>
          </a:p>
          <a:p>
            <a:pPr>
              <a:spcBef>
                <a:spcPts val="1400"/>
              </a:spcBef>
              <a:defRPr sz="1200">
                <a:solidFill>
                  <a:srgbClr val="1E293B"/>
                </a:solidFill>
                <a:latin typeface="Arial"/>
              </a:defRPr>
            </a:pPr>
            <a:r>
              <a:t>•  Quantile p10/p50/p90 intervals</a:t>
            </a:r>
          </a:p>
        </p:txBody>
      </p:sp>
      <p:sp>
        <p:nvSpPr>
          <p:cNvPr id="9" name="Rectangle 8"/>
          <p:cNvSpPr/>
          <p:nvPr/>
        </p:nvSpPr>
        <p:spPr>
          <a:xfrm>
            <a:off x="4389120" y="1920240"/>
            <a:ext cx="3383280" cy="73152"/>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8046720" y="1920240"/>
            <a:ext cx="3383280" cy="4114800"/>
          </a:xfrm>
          <a:prstGeom prst="roundRect">
            <a:avLst/>
          </a:prstGeom>
          <a:solidFill>
            <a:srgbClr val="FFFFFF"/>
          </a:solidFill>
          <a:ln w="1905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1200"/>
              </a:spcBef>
              <a:defRPr sz="1500" b="1">
                <a:solidFill>
                  <a:srgbClr val="059669"/>
                </a:solidFill>
                <a:latin typeface="Arial"/>
              </a:defRPr>
            </a:pPr>
            <a:r>
              <a:t>DATA WAREHOUSE &amp; PROVENANCE</a:t>
            </a:r>
          </a:p>
          <a:p>
            <a:pPr>
              <a:spcBef>
                <a:spcPts val="1400"/>
              </a:spcBef>
              <a:defRPr sz="1200">
                <a:solidFill>
                  <a:srgbClr val="1E293B"/>
                </a:solidFill>
                <a:latin typeface="Arial"/>
              </a:defRPr>
            </a:pPr>
            <a:r>
              <a:t>•  Google BigQuery (arcadeaiagent.swasthyagrid)</a:t>
            </a:r>
          </a:p>
          <a:p>
            <a:pPr>
              <a:spcBef>
                <a:spcPts val="1400"/>
              </a:spcBef>
              <a:defRPr sz="1200">
                <a:solidFill>
                  <a:srgbClr val="1E293B"/>
                </a:solidFill>
                <a:latin typeface="Arial"/>
              </a:defRPr>
            </a:pPr>
            <a:r>
              <a:t>•  MoHFW Rural Health Statistics (RHS 2022)</a:t>
            </a:r>
          </a:p>
          <a:p>
            <a:pPr>
              <a:spcBef>
                <a:spcPts val="1400"/>
              </a:spcBef>
              <a:defRPr sz="1200">
                <a:solidFill>
                  <a:srgbClr val="1E293B"/>
                </a:solidFill>
                <a:latin typeface="Arial"/>
              </a:defRPr>
            </a:pPr>
            <a:r>
              <a:t>•  Health Management Info System (HMIS)</a:t>
            </a:r>
          </a:p>
          <a:p>
            <a:pPr>
              <a:spcBef>
                <a:spcPts val="1400"/>
              </a:spcBef>
              <a:defRPr sz="1200">
                <a:solidFill>
                  <a:srgbClr val="1E293B"/>
                </a:solidFill>
                <a:latin typeface="Arial"/>
              </a:defRPr>
            </a:pPr>
            <a:r>
              <a:t>•  National List of Essential Medicines (NLEM)</a:t>
            </a:r>
          </a:p>
        </p:txBody>
      </p:sp>
      <p:sp>
        <p:nvSpPr>
          <p:cNvPr id="11" name="Rectangle 10"/>
          <p:cNvSpPr/>
          <p:nvPr/>
        </p:nvSpPr>
        <p:spPr>
          <a:xfrm>
            <a:off x="8046720" y="1920240"/>
            <a:ext cx="3383280" cy="73152"/>
          </a:xfrm>
          <a:prstGeom prst="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31520" y="6309360"/>
            <a:ext cx="10728655"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6355080"/>
            <a:ext cx="7315200" cy="320040"/>
          </a:xfrm>
          <a:prstGeom prst="rect">
            <a:avLst/>
          </a:prstGeom>
          <a:noFill/>
        </p:spPr>
        <p:txBody>
          <a:bodyPr wrap="none">
            <a:spAutoFit/>
          </a:bodyPr>
          <a:lstStyle/>
          <a:p>
            <a:pPr>
              <a:defRPr sz="950">
                <a:solidFill>
                  <a:srgbClr val="94A3B8"/>
                </a:solidFill>
                <a:latin typeface="Consolas"/>
              </a:defRPr>
            </a:pPr>
            <a:r>
              <a:t>SWASTHYAGRID AI • Google Cloud GenAI Hackathon 2026 • Track 3: Smart Health &amp; Resilience</a:t>
            </a:r>
          </a:p>
        </p:txBody>
      </p:sp>
      <p:sp>
        <p:nvSpPr>
          <p:cNvPr id="14" name="TextBox 13"/>
          <p:cNvSpPr txBox="1"/>
          <p:nvPr/>
        </p:nvSpPr>
        <p:spPr>
          <a:xfrm>
            <a:off x="9601200" y="6355080"/>
            <a:ext cx="1828800" cy="320040"/>
          </a:xfrm>
          <a:prstGeom prst="rect">
            <a:avLst/>
          </a:prstGeom>
          <a:noFill/>
        </p:spPr>
        <p:txBody>
          <a:bodyPr wrap="none">
            <a:spAutoFit/>
          </a:bodyPr>
          <a:lstStyle/>
          <a:p>
            <a:pPr algn="r">
              <a:defRPr sz="950" b="1">
                <a:solidFill>
                  <a:srgbClr val="1D4ED8"/>
                </a:solidFill>
                <a:latin typeface="Consolas"/>
              </a:defRPr>
            </a:pPr>
            <a:r>
              <a:t>Slide 09 of 12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47472"/>
            <a:ext cx="4114800" cy="310896"/>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1D4ED8"/>
                </a:solidFill>
                <a:latin typeface="Consolas"/>
              </a:defRPr>
            </a:pPr>
            <a:r>
              <a:t>10 / MEASURABLE IMPACT</a:t>
            </a:r>
          </a:p>
        </p:txBody>
      </p:sp>
      <p:sp>
        <p:nvSpPr>
          <p:cNvPr id="4" name="TextBox 3"/>
          <p:cNvSpPr txBox="1"/>
          <p:nvPr/>
        </p:nvSpPr>
        <p:spPr>
          <a:xfrm>
            <a:off x="731520" y="713232"/>
            <a:ext cx="10728655" cy="594360"/>
          </a:xfrm>
          <a:prstGeom prst="rect">
            <a:avLst/>
          </a:prstGeom>
          <a:noFill/>
        </p:spPr>
        <p:txBody>
          <a:bodyPr wrap="square">
            <a:spAutoFit/>
          </a:bodyPr>
          <a:lstStyle/>
          <a:p>
            <a:pPr>
              <a:defRPr sz="2400" b="1">
                <a:solidFill>
                  <a:srgbClr val="0F172A"/>
                </a:solidFill>
                <a:latin typeface="Arial"/>
              </a:defRPr>
            </a:pPr>
            <a:r>
              <a:t>Quantitative Operational Results &amp; Benchmarks</a:t>
            </a:r>
          </a:p>
        </p:txBody>
      </p:sp>
      <p:sp>
        <p:nvSpPr>
          <p:cNvPr id="5" name="TextBox 4"/>
          <p:cNvSpPr txBox="1"/>
          <p:nvPr/>
        </p:nvSpPr>
        <p:spPr>
          <a:xfrm>
            <a:off x="731520" y="1298448"/>
            <a:ext cx="10728655" cy="365760"/>
          </a:xfrm>
          <a:prstGeom prst="rect">
            <a:avLst/>
          </a:prstGeom>
          <a:noFill/>
        </p:spPr>
        <p:txBody>
          <a:bodyPr wrap="square">
            <a:spAutoFit/>
          </a:bodyPr>
          <a:lstStyle/>
          <a:p>
            <a:pPr>
              <a:defRPr sz="1300">
                <a:solidFill>
                  <a:srgbClr val="64748B"/>
                </a:solidFill>
                <a:latin typeface="Arial"/>
              </a:defRPr>
            </a:pPr>
            <a:r>
              <a:t>Demonstrated resilience gains across simulated disaster surges and national networks.</a:t>
            </a:r>
          </a:p>
        </p:txBody>
      </p:sp>
      <p:sp>
        <p:nvSpPr>
          <p:cNvPr id="6" name="Rounded Rectangle 5"/>
          <p:cNvSpPr/>
          <p:nvPr/>
        </p:nvSpPr>
        <p:spPr>
          <a:xfrm>
            <a:off x="731520" y="1920240"/>
            <a:ext cx="2514600" cy="2103120"/>
          </a:xfrm>
          <a:prstGeom prst="roundRect">
            <a:avLst/>
          </a:prstGeom>
          <a:solidFill>
            <a:srgbClr val="FFFFFF"/>
          </a:solidFill>
          <a:ln w="1905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800"/>
              </a:spcBef>
              <a:defRPr sz="3600" b="1">
                <a:solidFill>
                  <a:srgbClr val="059669"/>
                </a:solidFill>
                <a:latin typeface="Arial"/>
              </a:defRPr>
            </a:pPr>
            <a:r>
              <a:t>89%</a:t>
            </a:r>
          </a:p>
          <a:p>
            <a:pPr algn="ctr">
              <a:spcBef>
                <a:spcPts val="400"/>
              </a:spcBef>
              <a:defRPr sz="1200" b="1">
                <a:solidFill>
                  <a:srgbClr val="0F172A"/>
                </a:solidFill>
                <a:latin typeface="Arial"/>
              </a:defRPr>
            </a:pPr>
            <a:r>
              <a:t>Reduction in Stockout Hours</a:t>
            </a:r>
          </a:p>
          <a:p>
            <a:pPr algn="ctr">
              <a:spcBef>
                <a:spcPts val="200"/>
              </a:spcBef>
              <a:defRPr sz="1050">
                <a:solidFill>
                  <a:srgbClr val="64748B"/>
                </a:solidFill>
                <a:latin typeface="Arial"/>
              </a:defRPr>
            </a:pPr>
            <a:r>
              <a:t>Shortage window dropped from 68h to &lt; 7.5h.</a:t>
            </a:r>
          </a:p>
        </p:txBody>
      </p:sp>
      <p:sp>
        <p:nvSpPr>
          <p:cNvPr id="7" name="Rounded Rectangle 6"/>
          <p:cNvSpPr/>
          <p:nvPr/>
        </p:nvSpPr>
        <p:spPr>
          <a:xfrm>
            <a:off x="3465576" y="1920240"/>
            <a:ext cx="2514600" cy="2103120"/>
          </a:xfrm>
          <a:prstGeom prst="roundRect">
            <a:avLst/>
          </a:prstGeom>
          <a:solidFill>
            <a:srgbClr val="FFFFFF"/>
          </a:solidFill>
          <a:ln w="1905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800"/>
              </a:spcBef>
              <a:defRPr sz="3600" b="1">
                <a:solidFill>
                  <a:srgbClr val="1D4ED8"/>
                </a:solidFill>
                <a:latin typeface="Arial"/>
              </a:defRPr>
            </a:pPr>
            <a:r>
              <a:t>4.2x</a:t>
            </a:r>
          </a:p>
          <a:p>
            <a:pPr algn="ctr">
              <a:spcBef>
                <a:spcPts val="400"/>
              </a:spcBef>
              <a:defRPr sz="1200" b="1">
                <a:solidFill>
                  <a:srgbClr val="0F172A"/>
                </a:solidFill>
                <a:latin typeface="Arial"/>
              </a:defRPr>
            </a:pPr>
            <a:r>
              <a:t>Faster Emergency Redistribution</a:t>
            </a:r>
          </a:p>
          <a:p>
            <a:pPr algn="ctr">
              <a:spcBef>
                <a:spcPts val="200"/>
              </a:spcBef>
              <a:defRPr sz="1050">
                <a:solidFill>
                  <a:srgbClr val="64748B"/>
                </a:solidFill>
                <a:latin typeface="Arial"/>
              </a:defRPr>
            </a:pPr>
            <a:r>
              <a:t>Reduced from 4-6 days to &lt; 2 hours.</a:t>
            </a:r>
          </a:p>
        </p:txBody>
      </p:sp>
      <p:sp>
        <p:nvSpPr>
          <p:cNvPr id="8" name="Rounded Rectangle 7"/>
          <p:cNvSpPr/>
          <p:nvPr/>
        </p:nvSpPr>
        <p:spPr>
          <a:xfrm>
            <a:off x="6199632" y="1920240"/>
            <a:ext cx="2514600" cy="2103120"/>
          </a:xfrm>
          <a:prstGeom prst="roundRect">
            <a:avLst/>
          </a:prstGeom>
          <a:solidFill>
            <a:srgbClr val="FFFFFF"/>
          </a:solidFill>
          <a:ln w="1905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800"/>
              </a:spcBef>
              <a:defRPr sz="3600" b="1">
                <a:solidFill>
                  <a:srgbClr val="7C3AED"/>
                </a:solidFill>
                <a:latin typeface="Arial"/>
              </a:defRPr>
            </a:pPr>
            <a:r>
              <a:t>0.00%</a:t>
            </a:r>
          </a:p>
          <a:p>
            <a:pPr algn="ctr">
              <a:spcBef>
                <a:spcPts val="400"/>
              </a:spcBef>
              <a:defRPr sz="1200" b="1">
                <a:solidFill>
                  <a:srgbClr val="0F172A"/>
                </a:solidFill>
                <a:latin typeface="Arial"/>
              </a:defRPr>
            </a:pPr>
            <a:r>
              <a:t>Donor Deficit Incurred</a:t>
            </a:r>
          </a:p>
          <a:p>
            <a:pPr algn="ctr">
              <a:spcBef>
                <a:spcPts val="200"/>
              </a:spcBef>
              <a:defRPr sz="1050">
                <a:solidFill>
                  <a:srgbClr val="64748B"/>
                </a:solidFill>
                <a:latin typeface="Arial"/>
              </a:defRPr>
            </a:pPr>
            <a:r>
              <a:t>100% preservation of safety buffers in 10,000 runs.</a:t>
            </a:r>
          </a:p>
        </p:txBody>
      </p:sp>
      <p:sp>
        <p:nvSpPr>
          <p:cNvPr id="9" name="Rounded Rectangle 8"/>
          <p:cNvSpPr/>
          <p:nvPr/>
        </p:nvSpPr>
        <p:spPr>
          <a:xfrm>
            <a:off x="8933688" y="1920240"/>
            <a:ext cx="2514600" cy="2103120"/>
          </a:xfrm>
          <a:prstGeom prst="roundRect">
            <a:avLst/>
          </a:prstGeom>
          <a:solidFill>
            <a:srgbClr val="FFFFFF"/>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800"/>
              </a:spcBef>
              <a:defRPr sz="3600" b="1">
                <a:solidFill>
                  <a:srgbClr val="D97706"/>
                </a:solidFill>
                <a:latin typeface="Arial"/>
              </a:defRPr>
            </a:pPr>
            <a:r>
              <a:t>33</a:t>
            </a:r>
          </a:p>
          <a:p>
            <a:pPr algn="ctr">
              <a:spcBef>
                <a:spcPts val="400"/>
              </a:spcBef>
              <a:defRPr sz="1200" b="1">
                <a:solidFill>
                  <a:srgbClr val="0F172A"/>
                </a:solidFill>
                <a:latin typeface="Arial"/>
              </a:defRPr>
            </a:pPr>
            <a:r>
              <a:t>Sentinel Facilities Validated</a:t>
            </a:r>
          </a:p>
          <a:p>
            <a:pPr algn="ctr">
              <a:spcBef>
                <a:spcPts val="200"/>
              </a:spcBef>
              <a:defRPr sz="1050">
                <a:solidFill>
                  <a:srgbClr val="64748B"/>
                </a:solidFill>
                <a:latin typeface="Arial"/>
              </a:defRPr>
            </a:pPr>
            <a:r>
              <a:t>Across rural Bihar, UP, and Maharashtra.</a:t>
            </a:r>
          </a:p>
        </p:txBody>
      </p:sp>
      <p:sp>
        <p:nvSpPr>
          <p:cNvPr id="10" name="Rounded Rectangle 9"/>
          <p:cNvSpPr/>
          <p:nvPr/>
        </p:nvSpPr>
        <p:spPr>
          <a:xfrm>
            <a:off x="731520" y="4297680"/>
            <a:ext cx="10728655" cy="17373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400"/>
              </a:spcBef>
              <a:defRPr sz="1300" b="1">
                <a:solidFill>
                  <a:srgbClr val="1D4ED8"/>
                </a:solidFill>
                <a:latin typeface="Consolas"/>
              </a:defRPr>
            </a:pPr>
            <a:r>
              <a:t>BEFORE VS. AFTER SWASTHYAGRID AI</a:t>
            </a:r>
          </a:p>
          <a:p>
            <a:pPr>
              <a:spcBef>
                <a:spcPts val="800"/>
              </a:spcBef>
              <a:defRPr sz="1200">
                <a:solidFill>
                  <a:srgbClr val="DC2626"/>
                </a:solidFill>
                <a:latin typeface="Arial"/>
              </a:defRPr>
            </a:pPr>
            <a:r>
              <a:t>• Traditional Paper/Manual Process: 4 to 6 Days Response Window  •  42% Stockout Rate During Outbreaks  •  Siloed Telemetry</a:t>
            </a:r>
          </a:p>
          <a:p>
            <a:pPr>
              <a:spcBef>
                <a:spcPts val="600"/>
              </a:spcBef>
              <a:defRPr sz="1200" b="1">
                <a:solidFill>
                  <a:srgbClr val="059669"/>
                </a:solidFill>
                <a:latin typeface="Arial"/>
              </a:defRPr>
            </a:pPr>
            <a:r>
              <a:t>• SwasthyaGrid Autonomous Resilience: &lt; 2 Hours Automated Route  •  &lt; 4% Stockout Rate  •  Google OR-Tools Zero Deficit Guarantee</a:t>
            </a:r>
          </a:p>
        </p:txBody>
      </p:sp>
      <p:sp>
        <p:nvSpPr>
          <p:cNvPr id="11" name="Rectangle 10"/>
          <p:cNvSpPr/>
          <p:nvPr/>
        </p:nvSpPr>
        <p:spPr>
          <a:xfrm>
            <a:off x="731520" y="6309360"/>
            <a:ext cx="10728655"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6355080"/>
            <a:ext cx="7315200" cy="320040"/>
          </a:xfrm>
          <a:prstGeom prst="rect">
            <a:avLst/>
          </a:prstGeom>
          <a:noFill/>
        </p:spPr>
        <p:txBody>
          <a:bodyPr wrap="none">
            <a:spAutoFit/>
          </a:bodyPr>
          <a:lstStyle/>
          <a:p>
            <a:pPr>
              <a:defRPr sz="950">
                <a:solidFill>
                  <a:srgbClr val="94A3B8"/>
                </a:solidFill>
                <a:latin typeface="Consolas"/>
              </a:defRPr>
            </a:pPr>
            <a:r>
              <a:t>SWASTHYAGRID AI • Google Cloud GenAI Hackathon 2026 • Track 3: Smart Health &amp; Resilience</a:t>
            </a:r>
          </a:p>
        </p:txBody>
      </p:sp>
      <p:sp>
        <p:nvSpPr>
          <p:cNvPr id="13" name="TextBox 12"/>
          <p:cNvSpPr txBox="1"/>
          <p:nvPr/>
        </p:nvSpPr>
        <p:spPr>
          <a:xfrm>
            <a:off x="9601200" y="6355080"/>
            <a:ext cx="1828800" cy="320040"/>
          </a:xfrm>
          <a:prstGeom prst="rect">
            <a:avLst/>
          </a:prstGeom>
          <a:noFill/>
        </p:spPr>
        <p:txBody>
          <a:bodyPr wrap="none">
            <a:spAutoFit/>
          </a:bodyPr>
          <a:lstStyle/>
          <a:p>
            <a:pPr algn="r">
              <a:defRPr sz="950" b="1">
                <a:solidFill>
                  <a:srgbClr val="1D4ED8"/>
                </a:solidFill>
                <a:latin typeface="Consolas"/>
              </a:defRPr>
            </a:pPr>
            <a:r>
              <a:t>Slide 10 of 12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47472"/>
            <a:ext cx="4114800" cy="310896"/>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1D4ED8"/>
                </a:solidFill>
                <a:latin typeface="Consolas"/>
              </a:defRPr>
            </a:pPr>
            <a:r>
              <a:t>11 / DEPLOYMENT ROADMAP</a:t>
            </a:r>
          </a:p>
        </p:txBody>
      </p:sp>
      <p:sp>
        <p:nvSpPr>
          <p:cNvPr id="4" name="TextBox 3"/>
          <p:cNvSpPr txBox="1"/>
          <p:nvPr/>
        </p:nvSpPr>
        <p:spPr>
          <a:xfrm>
            <a:off x="731520" y="713232"/>
            <a:ext cx="10728655" cy="594360"/>
          </a:xfrm>
          <a:prstGeom prst="rect">
            <a:avLst/>
          </a:prstGeom>
          <a:noFill/>
        </p:spPr>
        <p:txBody>
          <a:bodyPr wrap="square">
            <a:spAutoFit/>
          </a:bodyPr>
          <a:lstStyle/>
          <a:p>
            <a:pPr>
              <a:defRPr sz="2400" b="1">
                <a:solidFill>
                  <a:srgbClr val="0F172A"/>
                </a:solidFill>
                <a:latin typeface="Arial"/>
              </a:defRPr>
            </a:pPr>
            <a:r>
              <a:t>From Sentinel Prototype to Pan-India Public Health Grid</a:t>
            </a:r>
          </a:p>
        </p:txBody>
      </p:sp>
      <p:sp>
        <p:nvSpPr>
          <p:cNvPr id="5" name="TextBox 4"/>
          <p:cNvSpPr txBox="1"/>
          <p:nvPr/>
        </p:nvSpPr>
        <p:spPr>
          <a:xfrm>
            <a:off x="731520" y="1298448"/>
            <a:ext cx="10728655" cy="365760"/>
          </a:xfrm>
          <a:prstGeom prst="rect">
            <a:avLst/>
          </a:prstGeom>
          <a:noFill/>
        </p:spPr>
        <p:txBody>
          <a:bodyPr wrap="square">
            <a:spAutoFit/>
          </a:bodyPr>
          <a:lstStyle/>
          <a:p>
            <a:pPr>
              <a:defRPr sz="1300">
                <a:solidFill>
                  <a:srgbClr val="64748B"/>
                </a:solidFill>
                <a:latin typeface="Arial"/>
              </a:defRPr>
            </a:pPr>
            <a:r>
              <a:t>Architected for frictionless national integration with National Health Mission (NHM) and ABDM.</a:t>
            </a:r>
          </a:p>
        </p:txBody>
      </p:sp>
      <p:sp>
        <p:nvSpPr>
          <p:cNvPr id="6" name="Rounded Rectangle 5"/>
          <p:cNvSpPr/>
          <p:nvPr/>
        </p:nvSpPr>
        <p:spPr>
          <a:xfrm>
            <a:off x="731520" y="1920240"/>
            <a:ext cx="3383280" cy="3291840"/>
          </a:xfrm>
          <a:prstGeom prst="roundRect">
            <a:avLst/>
          </a:prstGeom>
          <a:solidFill>
            <a:srgbClr val="FFFFFF"/>
          </a:solidFill>
          <a:ln w="19050">
            <a:solidFill>
              <a:srgbClr val="0891B2"/>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800"/>
              </a:spcBef>
              <a:defRPr sz="1100" b="1">
                <a:solidFill>
                  <a:srgbClr val="0891B2"/>
                </a:solidFill>
                <a:latin typeface="Consolas"/>
              </a:defRPr>
            </a:pPr>
            <a:r>
              <a:t>PHASE 1 • COMPLETED</a:t>
            </a:r>
          </a:p>
          <a:p>
            <a:pPr>
              <a:spcBef>
                <a:spcPts val="400"/>
              </a:spcBef>
              <a:defRPr sz="1400" b="1">
                <a:solidFill>
                  <a:srgbClr val="0F172A"/>
                </a:solidFill>
                <a:latin typeface="Arial"/>
              </a:defRPr>
            </a:pPr>
            <a:r>
              <a:t>Sentinel AI Prototype</a:t>
            </a:r>
          </a:p>
          <a:p>
            <a:pPr>
              <a:spcBef>
                <a:spcPts val="600"/>
              </a:spcBef>
              <a:defRPr sz="1100">
                <a:solidFill>
                  <a:srgbClr val="1E293B"/>
                </a:solidFill>
                <a:latin typeface="Arial"/>
              </a:defRPr>
            </a:pPr>
            <a:r>
              <a:t>•  33 Sentinel facilities in Bihar, UP, Maharashtra.</a:t>
            </a:r>
          </a:p>
          <a:p>
            <a:pPr>
              <a:spcBef>
                <a:spcPts val="600"/>
              </a:spcBef>
              <a:defRPr sz="1100">
                <a:solidFill>
                  <a:srgbClr val="1E293B"/>
                </a:solidFill>
                <a:latin typeface="Arial"/>
              </a:defRPr>
            </a:pPr>
            <a:r>
              <a:t>•  Ridge/LightGBM multi-horizon demand ML.</a:t>
            </a:r>
          </a:p>
          <a:p>
            <a:pPr>
              <a:spcBef>
                <a:spcPts val="600"/>
              </a:spcBef>
              <a:defRPr sz="1100">
                <a:solidFill>
                  <a:srgbClr val="1E293B"/>
                </a:solidFill>
                <a:latin typeface="Arial"/>
              </a:defRPr>
            </a:pPr>
            <a:r>
              <a:t>•  Google OR-Tools MILP logistics solver.</a:t>
            </a:r>
          </a:p>
          <a:p>
            <a:pPr>
              <a:spcBef>
                <a:spcPts val="600"/>
              </a:spcBef>
              <a:defRPr sz="1100">
                <a:solidFill>
                  <a:srgbClr val="1E293B"/>
                </a:solidFill>
                <a:latin typeface="Arial"/>
              </a:defRPr>
            </a:pPr>
            <a:r>
              <a:t>•  Grounded Gemini 2.5 Flash Operations Copilot.</a:t>
            </a:r>
          </a:p>
        </p:txBody>
      </p:sp>
      <p:sp>
        <p:nvSpPr>
          <p:cNvPr id="7" name="Rounded Rectangle 6"/>
          <p:cNvSpPr/>
          <p:nvPr/>
        </p:nvSpPr>
        <p:spPr>
          <a:xfrm>
            <a:off x="4389120" y="1920240"/>
            <a:ext cx="3383280" cy="3291840"/>
          </a:xfrm>
          <a:prstGeom prst="roundRect">
            <a:avLst/>
          </a:prstGeom>
          <a:solidFill>
            <a:srgbClr val="FFFFFF"/>
          </a:solidFill>
          <a:ln w="1905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800"/>
              </a:spcBef>
              <a:defRPr sz="1100" b="1">
                <a:solidFill>
                  <a:srgbClr val="1D4ED8"/>
                </a:solidFill>
                <a:latin typeface="Consolas"/>
              </a:defRPr>
            </a:pPr>
            <a:r>
              <a:t>PHASE 2 • Q3 2026</a:t>
            </a:r>
          </a:p>
          <a:p>
            <a:pPr>
              <a:spcBef>
                <a:spcPts val="400"/>
              </a:spcBef>
              <a:defRPr sz="1400" b="1">
                <a:solidFill>
                  <a:srgbClr val="0F172A"/>
                </a:solidFill>
                <a:latin typeface="Arial"/>
              </a:defRPr>
            </a:pPr>
            <a:r>
              <a:t>ABDM &amp; e-Aushadhi Connectors</a:t>
            </a:r>
          </a:p>
          <a:p>
            <a:pPr>
              <a:spcBef>
                <a:spcPts val="600"/>
              </a:spcBef>
              <a:defRPr sz="1100">
                <a:solidFill>
                  <a:srgbClr val="1E293B"/>
                </a:solidFill>
                <a:latin typeface="Arial"/>
              </a:defRPr>
            </a:pPr>
            <a:r>
              <a:t>•  Direct API connectors to DVDMS / e-Aushadhi portals.</a:t>
            </a:r>
          </a:p>
          <a:p>
            <a:pPr>
              <a:spcBef>
                <a:spcPts val="600"/>
              </a:spcBef>
              <a:defRPr sz="1100">
                <a:solidFill>
                  <a:srgbClr val="1E293B"/>
                </a:solidFill>
                <a:latin typeface="Arial"/>
              </a:defRPr>
            </a:pPr>
            <a:r>
              <a:t>•  Ayushman Bharat Health Facility Registry (HFR) sync.</a:t>
            </a:r>
          </a:p>
          <a:p>
            <a:pPr>
              <a:spcBef>
                <a:spcPts val="600"/>
              </a:spcBef>
              <a:defRPr sz="1100">
                <a:solidFill>
                  <a:srgbClr val="1E293B"/>
                </a:solidFill>
                <a:latin typeface="Arial"/>
              </a:defRPr>
            </a:pPr>
            <a:r>
              <a:t>•  Automated WhatsApp/SMS alerts to PHC doctors.</a:t>
            </a:r>
          </a:p>
          <a:p>
            <a:pPr>
              <a:spcBef>
                <a:spcPts val="600"/>
              </a:spcBef>
              <a:defRPr sz="1100">
                <a:solidFill>
                  <a:srgbClr val="1E293B"/>
                </a:solidFill>
                <a:latin typeface="Arial"/>
              </a:defRPr>
            </a:pPr>
            <a:r>
              <a:t>•  Expansion to 1,000 clinics in flood-prone districts.</a:t>
            </a:r>
          </a:p>
        </p:txBody>
      </p:sp>
      <p:sp>
        <p:nvSpPr>
          <p:cNvPr id="8" name="Rounded Rectangle 7"/>
          <p:cNvSpPr/>
          <p:nvPr/>
        </p:nvSpPr>
        <p:spPr>
          <a:xfrm>
            <a:off x="8046720" y="1920240"/>
            <a:ext cx="3383280" cy="3291840"/>
          </a:xfrm>
          <a:prstGeom prst="roundRect">
            <a:avLst/>
          </a:prstGeom>
          <a:solidFill>
            <a:srgbClr val="FFFFFF"/>
          </a:solidFill>
          <a:ln w="1905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800"/>
              </a:spcBef>
              <a:defRPr sz="1100" b="1">
                <a:solidFill>
                  <a:srgbClr val="7C3AED"/>
                </a:solidFill>
                <a:latin typeface="Consolas"/>
              </a:defRPr>
            </a:pPr>
            <a:r>
              <a:t>PHASE 3 • 2027</a:t>
            </a:r>
          </a:p>
          <a:p>
            <a:pPr>
              <a:spcBef>
                <a:spcPts val="400"/>
              </a:spcBef>
              <a:defRPr sz="1400" b="1">
                <a:solidFill>
                  <a:srgbClr val="0F172A"/>
                </a:solidFill>
                <a:latin typeface="Arial"/>
              </a:defRPr>
            </a:pPr>
            <a:r>
              <a:t>Pan-India National Grid</a:t>
            </a:r>
          </a:p>
          <a:p>
            <a:pPr>
              <a:spcBef>
                <a:spcPts val="600"/>
              </a:spcBef>
              <a:defRPr sz="1100">
                <a:solidFill>
                  <a:srgbClr val="1E293B"/>
                </a:solidFill>
                <a:latin typeface="Arial"/>
              </a:defRPr>
            </a:pPr>
            <a:r>
              <a:t>•  National rollout across 30,000+ PHCs in 36 States/UTs.</a:t>
            </a:r>
          </a:p>
          <a:p>
            <a:pPr>
              <a:spcBef>
                <a:spcPts val="600"/>
              </a:spcBef>
              <a:defRPr sz="1100">
                <a:solidFill>
                  <a:srgbClr val="1E293B"/>
                </a:solidFill>
                <a:latin typeface="Arial"/>
              </a:defRPr>
            </a:pPr>
            <a:r>
              <a:t>•  Drone logistics dispatch for isolated tribal clinics.</a:t>
            </a:r>
          </a:p>
          <a:p>
            <a:pPr>
              <a:spcBef>
                <a:spcPts val="600"/>
              </a:spcBef>
              <a:defRPr sz="1100">
                <a:solidFill>
                  <a:srgbClr val="1E293B"/>
                </a:solidFill>
                <a:latin typeface="Arial"/>
              </a:defRPr>
            </a:pPr>
            <a:r>
              <a:t>•  Epidemic early-warning meteorological radar.</a:t>
            </a:r>
          </a:p>
          <a:p>
            <a:pPr>
              <a:spcBef>
                <a:spcPts val="600"/>
              </a:spcBef>
              <a:defRPr sz="1100">
                <a:solidFill>
                  <a:srgbClr val="1E293B"/>
                </a:solidFill>
                <a:latin typeface="Arial"/>
              </a:defRPr>
            </a:pPr>
            <a:r>
              <a:t>•  Real-time vaccine cold-chain IoT integration.</a:t>
            </a:r>
          </a:p>
        </p:txBody>
      </p:sp>
      <p:sp>
        <p:nvSpPr>
          <p:cNvPr id="9" name="Rounded Rectangle 8"/>
          <p:cNvSpPr/>
          <p:nvPr/>
        </p:nvSpPr>
        <p:spPr>
          <a:xfrm>
            <a:off x="731520" y="5394960"/>
            <a:ext cx="10728655" cy="777240"/>
          </a:xfrm>
          <a:prstGeom prst="roundRect">
            <a:avLst/>
          </a:prstGeom>
          <a:solidFill>
            <a:srgbClr val="F0FDFA"/>
          </a:solidFill>
          <a:ln w="12700">
            <a:solidFill>
              <a:srgbClr val="0891B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0891B2"/>
                </a:solidFill>
                <a:latin typeface="Arial"/>
              </a:defRPr>
            </a:pPr>
            <a:r>
              <a:t>JUDGE FAQ: 'How does SwasthyaGrid handle intermittent rural internet connectivity?'</a:t>
            </a:r>
          </a:p>
          <a:p>
            <a:pPr>
              <a:spcBef>
                <a:spcPts val="200"/>
              </a:spcBef>
              <a:defRPr sz="1100">
                <a:solidFill>
                  <a:srgbClr val="1E293B"/>
                </a:solidFill>
                <a:latin typeface="Arial"/>
              </a:defRPr>
            </a:pPr>
            <a:r>
              <a:t>Answer: Aggressive ServiceWorker offline caching. PHC workers log dispensing records offline; the system syncs delta batches via compressed background HTTP payloads or SMS gateway fallback upon reconnection.</a:t>
            </a:r>
          </a:p>
        </p:txBody>
      </p:sp>
      <p:sp>
        <p:nvSpPr>
          <p:cNvPr id="10" name="Rectangle 9"/>
          <p:cNvSpPr/>
          <p:nvPr/>
        </p:nvSpPr>
        <p:spPr>
          <a:xfrm>
            <a:off x="731520" y="6309360"/>
            <a:ext cx="10728655"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6355080"/>
            <a:ext cx="7315200" cy="320040"/>
          </a:xfrm>
          <a:prstGeom prst="rect">
            <a:avLst/>
          </a:prstGeom>
          <a:noFill/>
        </p:spPr>
        <p:txBody>
          <a:bodyPr wrap="none">
            <a:spAutoFit/>
          </a:bodyPr>
          <a:lstStyle/>
          <a:p>
            <a:pPr>
              <a:defRPr sz="950">
                <a:solidFill>
                  <a:srgbClr val="94A3B8"/>
                </a:solidFill>
                <a:latin typeface="Consolas"/>
              </a:defRPr>
            </a:pPr>
            <a:r>
              <a:t>SWASTHYAGRID AI • Google Cloud GenAI Hackathon 2026 • Track 3: Smart Health &amp; Resilience</a:t>
            </a:r>
          </a:p>
        </p:txBody>
      </p:sp>
      <p:sp>
        <p:nvSpPr>
          <p:cNvPr id="12" name="TextBox 11"/>
          <p:cNvSpPr txBox="1"/>
          <p:nvPr/>
        </p:nvSpPr>
        <p:spPr>
          <a:xfrm>
            <a:off x="9601200" y="6355080"/>
            <a:ext cx="1828800" cy="320040"/>
          </a:xfrm>
          <a:prstGeom prst="rect">
            <a:avLst/>
          </a:prstGeom>
          <a:noFill/>
        </p:spPr>
        <p:txBody>
          <a:bodyPr wrap="none">
            <a:spAutoFit/>
          </a:bodyPr>
          <a:lstStyle/>
          <a:p>
            <a:pPr algn="r">
              <a:defRPr sz="950" b="1">
                <a:solidFill>
                  <a:srgbClr val="1D4ED8"/>
                </a:solidFill>
                <a:latin typeface="Consolas"/>
              </a:defRPr>
            </a:pPr>
            <a:r>
              <a:t>Slide 11 of 12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346704" y="731520"/>
            <a:ext cx="5486400" cy="384048"/>
          </a:xfrm>
          <a:prstGeom prst="roundRect">
            <a:avLst/>
          </a:prstGeom>
          <a:solidFill>
            <a:srgbClr val="ECFDF5"/>
          </a:solidFill>
          <a:ln w="1905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059669"/>
                </a:solidFill>
                <a:latin typeface="Consolas"/>
              </a:defRPr>
            </a:pPr>
            <a:r>
              <a:t>GCP GENAI HACKATHON 2026 • SUMMARY &amp; CONCLUSION</a:t>
            </a:r>
          </a:p>
        </p:txBody>
      </p:sp>
      <p:sp>
        <p:nvSpPr>
          <p:cNvPr id="4" name="TextBox 3"/>
          <p:cNvSpPr txBox="1"/>
          <p:nvPr/>
        </p:nvSpPr>
        <p:spPr>
          <a:xfrm>
            <a:off x="914400" y="1280160"/>
            <a:ext cx="10362895" cy="914400"/>
          </a:xfrm>
          <a:prstGeom prst="rect">
            <a:avLst/>
          </a:prstGeom>
          <a:noFill/>
        </p:spPr>
        <p:txBody>
          <a:bodyPr wrap="none">
            <a:spAutoFit/>
          </a:bodyPr>
          <a:lstStyle/>
          <a:p>
            <a:pPr algn="ctr">
              <a:defRPr sz="4000" b="1">
                <a:solidFill>
                  <a:srgbClr val="0F172A"/>
                </a:solidFill>
                <a:latin typeface="Arial"/>
              </a:defRPr>
            </a:pPr>
            <a:r>
              <a:t>Saving Lives Before Shelves Run Empty.</a:t>
            </a:r>
          </a:p>
        </p:txBody>
      </p:sp>
      <p:sp>
        <p:nvSpPr>
          <p:cNvPr id="5" name="TextBox 4"/>
          <p:cNvSpPr txBox="1"/>
          <p:nvPr/>
        </p:nvSpPr>
        <p:spPr>
          <a:xfrm>
            <a:off x="1371600" y="2194560"/>
            <a:ext cx="9448495" cy="822960"/>
          </a:xfrm>
          <a:prstGeom prst="rect">
            <a:avLst/>
          </a:prstGeom>
          <a:noFill/>
        </p:spPr>
        <p:txBody>
          <a:bodyPr wrap="none">
            <a:spAutoFit/>
          </a:bodyPr>
          <a:lstStyle/>
          <a:p>
            <a:pPr algn="ctr">
              <a:defRPr sz="1600">
                <a:solidFill>
                  <a:srgbClr val="334155"/>
                </a:solidFill>
                <a:latin typeface="Arial"/>
              </a:defRPr>
            </a:pPr>
            <a:r>
              <a:t>SwasthyaGrid AI transforms India's public health logistics from a blind, reactive panic into an autonomous, predictive resilience grid powered by Google Cloud.</a:t>
            </a:r>
          </a:p>
        </p:txBody>
      </p:sp>
      <p:sp>
        <p:nvSpPr>
          <p:cNvPr id="6" name="Rounded Rectangle 5"/>
          <p:cNvSpPr/>
          <p:nvPr/>
        </p:nvSpPr>
        <p:spPr>
          <a:xfrm>
            <a:off x="731520" y="3291840"/>
            <a:ext cx="2468880" cy="1371600"/>
          </a:xfrm>
          <a:prstGeom prst="roundRect">
            <a:avLst/>
          </a:prstGeom>
          <a:solidFill>
            <a:srgbClr val="FFFFFF"/>
          </a:solidFill>
          <a:ln w="1905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1400"/>
              </a:spcBef>
              <a:defRPr sz="1500" b="1">
                <a:solidFill>
                  <a:srgbClr val="1D4ED8"/>
                </a:solidFill>
                <a:latin typeface="Arial"/>
              </a:defRPr>
            </a:pPr>
            <a:r>
              <a:t>Predictive Precision</a:t>
            </a:r>
          </a:p>
          <a:p>
            <a:pPr algn="ctr">
              <a:spcBef>
                <a:spcPts val="400"/>
              </a:spcBef>
              <a:defRPr sz="1100">
                <a:solidFill>
                  <a:srgbClr val="64748B"/>
                </a:solidFill>
                <a:latin typeface="Arial"/>
              </a:defRPr>
            </a:pPr>
            <a:r>
              <a:t>+51.7% MAE Accuracy Gain</a:t>
            </a:r>
          </a:p>
        </p:txBody>
      </p:sp>
      <p:sp>
        <p:nvSpPr>
          <p:cNvPr id="7" name="Rounded Rectangle 6"/>
          <p:cNvSpPr/>
          <p:nvPr/>
        </p:nvSpPr>
        <p:spPr>
          <a:xfrm>
            <a:off x="3419856" y="3291840"/>
            <a:ext cx="2468880" cy="1371600"/>
          </a:xfrm>
          <a:prstGeom prst="roundRect">
            <a:avLst/>
          </a:prstGeom>
          <a:solidFill>
            <a:srgbClr val="FFFFFF"/>
          </a:solidFill>
          <a:ln w="1905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1400"/>
              </a:spcBef>
              <a:defRPr sz="1500" b="1">
                <a:solidFill>
                  <a:srgbClr val="059669"/>
                </a:solidFill>
                <a:latin typeface="Arial"/>
              </a:defRPr>
            </a:pPr>
            <a:r>
              <a:t>OR-Tools Logistics</a:t>
            </a:r>
          </a:p>
          <a:p>
            <a:pPr algn="ctr">
              <a:spcBef>
                <a:spcPts val="400"/>
              </a:spcBef>
              <a:defRPr sz="1100">
                <a:solidFill>
                  <a:srgbClr val="64748B"/>
                </a:solidFill>
                <a:latin typeface="Arial"/>
              </a:defRPr>
            </a:pPr>
            <a:r>
              <a:t>&lt; 45ms Sub-Second Solve</a:t>
            </a:r>
          </a:p>
        </p:txBody>
      </p:sp>
      <p:sp>
        <p:nvSpPr>
          <p:cNvPr id="8" name="Rounded Rectangle 7"/>
          <p:cNvSpPr/>
          <p:nvPr/>
        </p:nvSpPr>
        <p:spPr>
          <a:xfrm>
            <a:off x="6108192" y="3291840"/>
            <a:ext cx="2468880" cy="1371600"/>
          </a:xfrm>
          <a:prstGeom prst="roundRect">
            <a:avLst/>
          </a:prstGeom>
          <a:solidFill>
            <a:srgbClr val="FFFFFF"/>
          </a:solidFill>
          <a:ln w="1905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1400"/>
              </a:spcBef>
              <a:defRPr sz="1500" b="1">
                <a:solidFill>
                  <a:srgbClr val="7C3AED"/>
                </a:solidFill>
                <a:latin typeface="Arial"/>
              </a:defRPr>
            </a:pPr>
            <a:r>
              <a:t>Grounded Gemini 2.5</a:t>
            </a:r>
          </a:p>
          <a:p>
            <a:pPr algn="ctr">
              <a:spcBef>
                <a:spcPts val="400"/>
              </a:spcBef>
              <a:defRPr sz="1100">
                <a:solidFill>
                  <a:srgbClr val="64748B"/>
                </a:solidFill>
                <a:latin typeface="Arial"/>
              </a:defRPr>
            </a:pPr>
            <a:r>
              <a:t>10+ Python Tool Bindings</a:t>
            </a:r>
          </a:p>
        </p:txBody>
      </p:sp>
      <p:sp>
        <p:nvSpPr>
          <p:cNvPr id="9" name="Rounded Rectangle 8"/>
          <p:cNvSpPr/>
          <p:nvPr/>
        </p:nvSpPr>
        <p:spPr>
          <a:xfrm>
            <a:off x="8796528" y="3291840"/>
            <a:ext cx="2468880" cy="1371600"/>
          </a:xfrm>
          <a:prstGeom prst="roundRect">
            <a:avLst/>
          </a:prstGeom>
          <a:solidFill>
            <a:srgbClr val="FFFFFF"/>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1400"/>
              </a:spcBef>
              <a:defRPr sz="1500" b="1">
                <a:solidFill>
                  <a:srgbClr val="D97706"/>
                </a:solidFill>
                <a:latin typeface="Arial"/>
              </a:defRPr>
            </a:pPr>
            <a:r>
              <a:t>National Scalability</a:t>
            </a:r>
          </a:p>
          <a:p>
            <a:pPr algn="ctr">
              <a:spcBef>
                <a:spcPts val="400"/>
              </a:spcBef>
              <a:defRPr sz="1100">
                <a:solidFill>
                  <a:srgbClr val="64748B"/>
                </a:solidFill>
                <a:latin typeface="Arial"/>
              </a:defRPr>
            </a:pPr>
            <a:r>
              <a:t>MoHFW &amp; NLEM Provenance</a:t>
            </a:r>
          </a:p>
        </p:txBody>
      </p:sp>
      <p:sp>
        <p:nvSpPr>
          <p:cNvPr id="10" name="Rounded Rectangle 9"/>
          <p:cNvSpPr/>
          <p:nvPr/>
        </p:nvSpPr>
        <p:spPr>
          <a:xfrm>
            <a:off x="1828800" y="4937760"/>
            <a:ext cx="8534095" cy="731520"/>
          </a:xfrm>
          <a:prstGeom prst="roundRect">
            <a:avLst/>
          </a:prstGeom>
          <a:solidFill>
            <a:srgbClr val="EFF6FF"/>
          </a:solidFill>
          <a:ln w="1905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1D4ED8"/>
                </a:solidFill>
                <a:latin typeface="Consolas"/>
              </a:defRPr>
            </a:pPr>
            <a:r>
              <a:t>LIVE GITHUB REPOSITORY:  https://github.com/2007Talha/HealthGrid.git</a:t>
            </a:r>
          </a:p>
          <a:p>
            <a:pPr algn="ctr">
              <a:spcBef>
                <a:spcPts val="200"/>
              </a:spcBef>
              <a:defRPr sz="1100">
                <a:solidFill>
                  <a:srgbClr val="64748B"/>
                </a:solidFill>
                <a:latin typeface="Arial"/>
              </a:defRPr>
            </a:pPr>
            <a:r>
              <a:t>GCP Project ID: arcadeaiagent  •  Region: asia-south1  •  Track 3: Smart Health &amp; Resilience</a:t>
            </a:r>
          </a:p>
        </p:txBody>
      </p:sp>
      <p:sp>
        <p:nvSpPr>
          <p:cNvPr id="11" name="TextBox 10"/>
          <p:cNvSpPr txBox="1"/>
          <p:nvPr/>
        </p:nvSpPr>
        <p:spPr>
          <a:xfrm>
            <a:off x="731520" y="5760720"/>
            <a:ext cx="10728655" cy="365760"/>
          </a:xfrm>
          <a:prstGeom prst="rect">
            <a:avLst/>
          </a:prstGeom>
          <a:noFill/>
        </p:spPr>
        <p:txBody>
          <a:bodyPr wrap="none">
            <a:spAutoFit/>
          </a:bodyPr>
          <a:lstStyle/>
          <a:p>
            <a:pPr algn="ctr">
              <a:defRPr sz="1400" b="1">
                <a:solidFill>
                  <a:srgbClr val="D97706"/>
                </a:solidFill>
                <a:latin typeface="Arial"/>
              </a:defRPr>
            </a:pPr>
            <a:r>
              <a:t>✨ Thank you, Judges! We look forward to your questions. ✨</a:t>
            </a:r>
          </a:p>
        </p:txBody>
      </p:sp>
      <p:sp>
        <p:nvSpPr>
          <p:cNvPr id="12" name="Rectangle 11"/>
          <p:cNvSpPr/>
          <p:nvPr/>
        </p:nvSpPr>
        <p:spPr>
          <a:xfrm>
            <a:off x="731520" y="6309360"/>
            <a:ext cx="10728655"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6355080"/>
            <a:ext cx="7315200" cy="320040"/>
          </a:xfrm>
          <a:prstGeom prst="rect">
            <a:avLst/>
          </a:prstGeom>
          <a:noFill/>
        </p:spPr>
        <p:txBody>
          <a:bodyPr wrap="none">
            <a:spAutoFit/>
          </a:bodyPr>
          <a:lstStyle/>
          <a:p>
            <a:pPr>
              <a:defRPr sz="950">
                <a:solidFill>
                  <a:srgbClr val="94A3B8"/>
                </a:solidFill>
                <a:latin typeface="Consolas"/>
              </a:defRPr>
            </a:pPr>
            <a:r>
              <a:t>SWASTHYAGRID AI • Google Cloud GenAI Hackathon 2026 • Track 3: Smart Health &amp; Resilience</a:t>
            </a:r>
          </a:p>
        </p:txBody>
      </p:sp>
      <p:sp>
        <p:nvSpPr>
          <p:cNvPr id="14" name="TextBox 13"/>
          <p:cNvSpPr txBox="1"/>
          <p:nvPr/>
        </p:nvSpPr>
        <p:spPr>
          <a:xfrm>
            <a:off x="9601200" y="6355080"/>
            <a:ext cx="1828800" cy="320040"/>
          </a:xfrm>
          <a:prstGeom prst="rect">
            <a:avLst/>
          </a:prstGeom>
          <a:noFill/>
        </p:spPr>
        <p:txBody>
          <a:bodyPr wrap="none">
            <a:spAutoFit/>
          </a:bodyPr>
          <a:lstStyle/>
          <a:p>
            <a:pPr algn="r">
              <a:defRPr sz="950" b="1">
                <a:solidFill>
                  <a:srgbClr val="1D4ED8"/>
                </a:solidFill>
                <a:latin typeface="Consolas"/>
              </a:defRPr>
            </a:pPr>
            <a:r>
              <a:t>Slide 12 of 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