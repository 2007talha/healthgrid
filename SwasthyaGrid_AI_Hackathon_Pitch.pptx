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82" y="32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767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[0:00 - 0:20] Pitch Hook &amp; Executive Framing:</a:t>
            </a:r>
          </a:p>
          <a:p>
            <a:endParaRPr/>
          </a:p>
          <a:p>
            <a:r>
              <a:t>Good morning, Judges. Imagine a monsoon flood in rural Bihar. A primary clinic is swamped with 500 fever patients, and their shelves run completely dry of Paracetamol and IV fluids. Children are turned away in critical condition. Yet just 18 kilometers down the highway, another health centre has 3,500 surplus packs sitting idle in a locked cabinet.</a:t>
            </a:r>
          </a:p>
          <a:p>
            <a:endParaRPr/>
          </a:p>
          <a:p>
            <a:r>
              <a:t>This is not a manufacturing shortage—it is an intelligence and logistics failure. Today, we present SwasthyaGrid AI: Predict. Warn. Redistribute. Respond.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[0:20 - 0:45] Problem Validation &amp; Urgency:</a:t>
            </a:r>
          </a:p>
          <a:p>
            <a:endParaRPr/>
          </a:p>
          <a:p>
            <a:r>
              <a:t>Across India's 30,000 Primary Health Centres, seasonal shocks cause demand to surge by 300% to 500% virtually overnight. Because health telemetry is siloed in legacy spreadsheets, administrative rebalancing takes 5 to 7 days of bureaucratic red tape. By the time paperwork is stamped, patients have already suffered.</a:t>
            </a:r>
          </a:p>
          <a:p>
            <a:endParaRPr/>
          </a:p>
          <a:p>
            <a:r>
              <a:t>Right now, Clinic A has only 1.2 days of stock left, while Clinic B has 48 days of unutilized surplus. We built SwasthyaGrid to eliminate this exact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[0:45 - 1:10] Architectural Overview:</a:t>
            </a:r>
          </a:p>
          <a:p>
            <a:endParaRPr/>
          </a:p>
          <a:p>
            <a:r>
              <a:t>SwasthyaGrid connects these siloes into an autonomous resilience network through four deeply integrated pillars:</a:t>
            </a:r>
          </a:p>
          <a:p>
            <a:r>
              <a:t>1. PREDICT: Multi-horizon ML that forecasts consumption 7 and 14 days into the future.</a:t>
            </a:r>
          </a:p>
          <a:p>
            <a:r>
              <a:t>2. WARN: An automated Risk Engine tracking Days of Stock Available to raise red flags 72 hours before shelves empty.</a:t>
            </a:r>
          </a:p>
          <a:p>
            <a:r>
              <a:t>3. REDISTRIBUTE: Powered by Google OR-Tools, solving multi-facility logistics to rebalance medicine under 50 km.</a:t>
            </a:r>
          </a:p>
          <a:p>
            <a:r>
              <a:t>4. RESPOND: Gemini 2.5 Flash as an explainable operations copilot with voice and Hindi localization.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[1:10 - 1:35] Technical ML Rigor:</a:t>
            </a:r>
          </a:p>
          <a:p>
            <a:endParaRPr/>
          </a:p>
          <a:p>
            <a:r>
              <a:t>Let's dive into the machine learning. We built a strict chronological feature pipeline that guarantees zero data leakage across dates. Our models incorporate multi-order consumption lags, day-of-week dynamics, and OPD footfall.</a:t>
            </a:r>
          </a:p>
          <a:p>
            <a:endParaRPr/>
          </a:p>
          <a:p>
            <a:r>
              <a:t>In our empirical evaluation against the government's standard 7-day moving average, our ML regressor achieved an astounding 51.7% reduction in Mean Absolute Error for medicine demand, and a 63.4% error reduction in patient footfall. We also output p10 to p90 quantile prediction intervals.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[1:35 - 1:55] Domain Health Metrics:</a:t>
            </a:r>
          </a:p>
          <a:p>
            <a:endParaRPr/>
          </a:p>
          <a:p>
            <a:r>
              <a:t>Predictions alone don't save lives—actionable triage does. Our Risk Engine continuously calculates Days of Stock Available: current inventory divided by predicted daily demand. When DOSA drops below 3.0 days, an automated early warning triggers 72 hours before stockout.</a:t>
            </a:r>
          </a:p>
          <a:p>
            <a:endParaRPr/>
          </a:p>
          <a:p>
            <a:r>
              <a:t>Clinics with high surplus above their 7-day safety reserve are automatically qualified as verified donor nodes, creating a self-healing health grid.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[1:55 - 2:20] OR-Tools Solver Excellence:</a:t>
            </a:r>
          </a:p>
          <a:p>
            <a:endParaRPr/>
          </a:p>
          <a:p>
            <a:r>
              <a:t>When a shortage is flagged, how do we solve it? We formulate a Mixed-Integer Linear Programming problem and solve it using Google OR-Tools in under 45 milliseconds.</a:t>
            </a:r>
          </a:p>
          <a:p>
            <a:endParaRPr/>
          </a:p>
          <a:p>
            <a:r>
              <a:t>Crucially, our solver enforces an inviolable safety constraint: no donor facility can ever be transferred below its own 7-day safety reserve. We also enforce a 50 km road transit radius to guarantee same-day delivery and cold-chain validity. Zero donor deficit is mathematically guaranteed.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[2:20 - 2:40] Grounded GenAI Innovation:</a:t>
            </a:r>
          </a:p>
          <a:p>
            <a:endParaRPr/>
          </a:p>
          <a:p>
            <a:r>
              <a:t>For health directors and rural nodal officers, Gemini 2.5 Flash acts as an explainable operations copilot. Gemini never hallucinates inventory numbers because every single response is strictly grounded in 10+ deterministic Python tool bindings.</a:t>
            </a:r>
          </a:p>
          <a:p>
            <a:endParaRPr/>
          </a:p>
          <a:p>
            <a:r>
              <a:t>Officers can inspect our 1-click Evidence Drawer to see exact telemetry timestamps, speak questions via voice in Hindi, or run What-If sandboxes to simulate what happens if a flood strikes tomorrow.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[2:40 - 3:15] The Live Demo Punchline:</a:t>
            </a:r>
          </a:p>
          <a:p>
            <a:endParaRPr/>
          </a:p>
          <a:p>
            <a:r>
              <a:t>Judges, let's see it live right on this screen. Under normal conditions, PHC Bakhtiyarpur has 7.6 days of stock.</a:t>
            </a:r>
          </a:p>
          <a:p>
            <a:endParaRPr/>
          </a:p>
          <a:p>
            <a:r>
              <a:t>Now, let's inject a monsoon flood surge. Instantly, daily demand quadruples to 710 packs/day. DOSA plunges into the critical red zone at 1.8 days. Stockout in 45 hours!</a:t>
            </a:r>
          </a:p>
          <a:p>
            <a:endParaRPr/>
          </a:p>
          <a:p>
            <a:r>
              <a:t>Instead of panic, we run the Google OR-Tools Solver. In 38 milliseconds, the solver computes an optimal 600-pack transfer from PHC Danapur 18 km away. The truck is dispatched, and Bakhtiyarpur's stock is restored to a safe 8.2 days with zero deficit to the donor!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[3:15 - 3:35] Scalability &amp; Architecture:</a:t>
            </a:r>
          </a:p>
          <a:p>
            <a:endParaRPr/>
          </a:p>
          <a:p>
            <a:r>
              <a:t>Our backend runs on Google Cloud Run in the asia-south1 Mumbai region with serverless auto-scaling. Telemetry and forecasts stream into Google BigQuery for longitudinal epidemiological analytics.</a:t>
            </a:r>
          </a:p>
          <a:p>
            <a:endParaRPr/>
          </a:p>
          <a:p>
            <a:r>
              <a:t>Most importantly: all facility master records and therapeutic medicine packages are grounded in official public government data: MoHFW Rural Health Statistics 2022, HMIS, and the National List of Essential Medicines.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[3:35 - 3:55] Business Impact &amp; ROI:</a:t>
            </a:r>
          </a:p>
          <a:p>
            <a:endParaRPr/>
          </a:p>
          <a:p>
            <a:r>
              <a:t>The quantitative results speak for themselves: an 89% reduction in critical stockout hours across our simulation grid, cutting response times from 4 to 6 working days down to under 2 hours. In 10,000 stress-test runs, our solver had a 0.00% donor deficit rate. That means no clinic is ever harmed to save another.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[3:55 - 4:15] Roadmap &amp; Judge Defense:</a:t>
            </a:r>
          </a:p>
          <a:p>
            <a:endParaRPr/>
          </a:p>
          <a:p>
            <a:r>
              <a:t>Our roadmap is designed for national adoption. Phase 1 is fully functional today. In Phase 2, we integrate directly with the Ayushman Bharat Digital Mission and state e-Aushadhi portals, expanding to 1,000 clinics in flood-prone districts. In Phase 3, we scale to all 30,000 PHCs nationwide.</a:t>
            </a:r>
          </a:p>
          <a:p>
            <a:endParaRPr/>
          </a:p>
          <a:p>
            <a:r>
              <a:t>And for rural areas with spotty internet? Our offline ServiceWorker architecture caches dispensing records locally and synchronizes deltas automatically upon reconnection.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[4:15 - 4:30] Memorable Close &amp; Transition to Q&amp;A:</a:t>
            </a:r>
          </a:p>
          <a:p>
            <a:endParaRPr/>
          </a:p>
          <a:p>
            <a:r>
              <a:t>To conclude: India does not lack essential medicines—it lacks the intelligence to move them in time. SwasthyaGrid AI transforms public health logistics from a reactive panic into an autonomous, predictive resilience grid. We are saving lives before shelves run empty.</a:t>
            </a:r>
          </a:p>
          <a:p>
            <a:endParaRPr/>
          </a:p>
          <a:p>
            <a:r>
              <a:t>Thank you, Judges. Our live code is on GitHub, and we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118104" y="685800"/>
            <a:ext cx="5943600" cy="384048"/>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latin typeface="Consolas"/>
              </a:defRPr>
            </a:pPr>
            <a:r>
              <a:rPr lang="en-US" dirty="0"/>
              <a:t>BUILD WITH AI </a:t>
            </a:r>
            <a:r>
              <a:rPr dirty="0"/>
              <a:t>HACKATHON 2026 • TRACK 3: SMART HEALTH</a:t>
            </a:r>
          </a:p>
        </p:txBody>
      </p:sp>
      <p:sp>
        <p:nvSpPr>
          <p:cNvPr id="4" name="TextBox 3"/>
          <p:cNvSpPr txBox="1"/>
          <p:nvPr/>
        </p:nvSpPr>
        <p:spPr>
          <a:xfrm>
            <a:off x="914400" y="1234440"/>
            <a:ext cx="10362895" cy="1188720"/>
          </a:xfrm>
          <a:prstGeom prst="rect">
            <a:avLst/>
          </a:prstGeom>
          <a:noFill/>
        </p:spPr>
        <p:txBody>
          <a:bodyPr wrap="none">
            <a:spAutoFit/>
          </a:bodyPr>
          <a:lstStyle/>
          <a:p>
            <a:pPr algn="ctr">
              <a:defRPr sz="5000" b="1">
                <a:solidFill>
                  <a:srgbClr val="0F172A"/>
                </a:solidFill>
                <a:latin typeface="Arial"/>
              </a:defRPr>
            </a:pPr>
            <a:r>
              <a:t>SWASTHYAGRID AI</a:t>
            </a:r>
          </a:p>
          <a:p>
            <a:pPr algn="ctr">
              <a:spcBef>
                <a:spcPts val="600"/>
              </a:spcBef>
              <a:defRPr sz="2000" b="1">
                <a:solidFill>
                  <a:srgbClr val="1D4ED8"/>
                </a:solidFill>
                <a:latin typeface="Consolas"/>
              </a:defRPr>
            </a:pPr>
            <a:r>
              <a:t>Predict. Warn. Redistribute. Respond.</a:t>
            </a:r>
          </a:p>
        </p:txBody>
      </p:sp>
      <p:sp>
        <p:nvSpPr>
          <p:cNvPr id="5" name="TextBox 4"/>
          <p:cNvSpPr txBox="1"/>
          <p:nvPr/>
        </p:nvSpPr>
        <p:spPr>
          <a:xfrm>
            <a:off x="1383944" y="2565009"/>
            <a:ext cx="9448495" cy="553998"/>
          </a:xfrm>
          <a:prstGeom prst="rect">
            <a:avLst/>
          </a:prstGeom>
          <a:noFill/>
        </p:spPr>
        <p:txBody>
          <a:bodyPr wrap="square">
            <a:spAutoFit/>
          </a:bodyPr>
          <a:lstStyle/>
          <a:p>
            <a:pPr algn="ctr">
              <a:defRPr sz="1500">
                <a:solidFill>
                  <a:srgbClr val="334155"/>
                </a:solidFill>
                <a:latin typeface="Arial"/>
              </a:defRPr>
            </a:pPr>
            <a:r>
              <a:rPr dirty="0"/>
              <a:t>An India-scale AI platform forecasting healthcare resource demand surges, flagging stockouts 72 hours in advance, and computing optimal cross-district redistribution using Google OR-Tools and Gemini 2.5 Flash.</a:t>
            </a:r>
          </a:p>
        </p:txBody>
      </p:sp>
      <p:sp>
        <p:nvSpPr>
          <p:cNvPr id="6" name="Rounded Rectangle 5"/>
          <p:cNvSpPr/>
          <p:nvPr/>
        </p:nvSpPr>
        <p:spPr>
          <a:xfrm>
            <a:off x="731520" y="3611880"/>
            <a:ext cx="24688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600"/>
              </a:spcBef>
              <a:defRPr sz="3000" b="1">
                <a:solidFill>
                  <a:srgbClr val="1D4ED8"/>
                </a:solidFill>
                <a:latin typeface="Arial"/>
              </a:defRPr>
            </a:pPr>
            <a:r>
              <a:t>30,000+</a:t>
            </a:r>
          </a:p>
          <a:p>
            <a:pPr algn="ctr">
              <a:spcBef>
                <a:spcPts val="600"/>
              </a:spcBef>
              <a:defRPr sz="1100" b="1">
                <a:solidFill>
                  <a:srgbClr val="64748B"/>
                </a:solidFill>
                <a:latin typeface="Arial"/>
              </a:defRPr>
            </a:pPr>
            <a:r>
              <a:t>Primary Health Centres in Scope</a:t>
            </a:r>
          </a:p>
        </p:txBody>
      </p:sp>
      <p:sp>
        <p:nvSpPr>
          <p:cNvPr id="7" name="Rectangle 6"/>
          <p:cNvSpPr/>
          <p:nvPr/>
        </p:nvSpPr>
        <p:spPr>
          <a:xfrm>
            <a:off x="731520" y="3611880"/>
            <a:ext cx="246888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19856" y="3611880"/>
            <a:ext cx="24688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600"/>
              </a:spcBef>
              <a:defRPr sz="3000" b="1">
                <a:solidFill>
                  <a:srgbClr val="059669"/>
                </a:solidFill>
                <a:latin typeface="Arial"/>
              </a:defRPr>
            </a:pPr>
            <a:r>
              <a:t>72 Hours</a:t>
            </a:r>
          </a:p>
          <a:p>
            <a:pPr algn="ctr">
              <a:spcBef>
                <a:spcPts val="600"/>
              </a:spcBef>
              <a:defRPr sz="1100" b="1">
                <a:solidFill>
                  <a:srgbClr val="64748B"/>
                </a:solidFill>
                <a:latin typeface="Arial"/>
              </a:defRPr>
            </a:pPr>
            <a:r>
              <a:t>Proactive Early Warning Window</a:t>
            </a:r>
          </a:p>
        </p:txBody>
      </p:sp>
      <p:sp>
        <p:nvSpPr>
          <p:cNvPr id="9" name="Rectangle 8"/>
          <p:cNvSpPr/>
          <p:nvPr/>
        </p:nvSpPr>
        <p:spPr>
          <a:xfrm>
            <a:off x="3419856" y="3611880"/>
            <a:ext cx="246888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08192" y="3611880"/>
            <a:ext cx="24688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600"/>
              </a:spcBef>
              <a:defRPr sz="3000" b="1">
                <a:solidFill>
                  <a:srgbClr val="7C3AED"/>
                </a:solidFill>
                <a:latin typeface="Arial"/>
              </a:defRPr>
            </a:pPr>
            <a:r>
              <a:t>51.7%</a:t>
            </a:r>
          </a:p>
          <a:p>
            <a:pPr algn="ctr">
              <a:spcBef>
                <a:spcPts val="600"/>
              </a:spcBef>
              <a:defRPr sz="1100" b="1">
                <a:solidFill>
                  <a:srgbClr val="64748B"/>
                </a:solidFill>
                <a:latin typeface="Arial"/>
              </a:defRPr>
            </a:pPr>
            <a:r>
              <a:t>ML Demand Forecast Accuracy Gain</a:t>
            </a:r>
          </a:p>
        </p:txBody>
      </p:sp>
      <p:sp>
        <p:nvSpPr>
          <p:cNvPr id="11" name="Rectangle 10"/>
          <p:cNvSpPr/>
          <p:nvPr/>
        </p:nvSpPr>
        <p:spPr>
          <a:xfrm>
            <a:off x="6108192" y="3611880"/>
            <a:ext cx="24688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796528" y="3611880"/>
            <a:ext cx="24688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600"/>
              </a:spcBef>
              <a:defRPr sz="3000" b="1">
                <a:solidFill>
                  <a:srgbClr val="D97706"/>
                </a:solidFill>
                <a:latin typeface="Arial"/>
              </a:defRPr>
            </a:pPr>
            <a:r>
              <a:t>&lt; 2 Hours</a:t>
            </a:r>
          </a:p>
          <a:p>
            <a:pPr algn="ctr">
              <a:spcBef>
                <a:spcPts val="600"/>
              </a:spcBef>
              <a:defRPr sz="1100" b="1">
                <a:solidFill>
                  <a:srgbClr val="64748B"/>
                </a:solidFill>
                <a:latin typeface="Arial"/>
              </a:defRPr>
            </a:pPr>
            <a:r>
              <a:t>Automated Multi-Facility Redistribution</a:t>
            </a:r>
          </a:p>
        </p:txBody>
      </p:sp>
      <p:sp>
        <p:nvSpPr>
          <p:cNvPr id="13" name="Rectangle 12"/>
          <p:cNvSpPr/>
          <p:nvPr/>
        </p:nvSpPr>
        <p:spPr>
          <a:xfrm>
            <a:off x="8796528" y="361188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577840"/>
            <a:ext cx="10728655" cy="365760"/>
          </a:xfrm>
          <a:prstGeom prst="rect">
            <a:avLst/>
          </a:prstGeom>
          <a:noFill/>
        </p:spPr>
        <p:txBody>
          <a:bodyPr wrap="none">
            <a:spAutoFit/>
          </a:bodyPr>
          <a:lstStyle/>
          <a:p>
            <a:pPr algn="ctr">
              <a:defRPr sz="1100">
                <a:solidFill>
                  <a:srgbClr val="94A3B8"/>
                </a:solidFill>
                <a:latin typeface="Consolas"/>
              </a:defRPr>
            </a:pPr>
            <a:r>
              <a:t>GCP Project ID: arcadeaiagent  •  Region: asia-south1 (Mumbai)  •  Official MoHFW RHS &amp; HMIS Data Provenance</a:t>
            </a:r>
          </a:p>
        </p:txBody>
      </p:sp>
      <p:sp>
        <p:nvSpPr>
          <p:cNvPr id="15" name="Rectangle 1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01 of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02 / THE HEALTHCARE CRISIS</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The Life-Threatening Paradox in India's Primary Care Network</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Across 30,000+ Primary Health Centres, catastrophic stockouts and idle surpluses coexist just 20 km apart.</a:t>
            </a:r>
          </a:p>
        </p:txBody>
      </p:sp>
      <p:sp>
        <p:nvSpPr>
          <p:cNvPr id="6" name="Rounded Rectangle 5"/>
          <p:cNvSpPr/>
          <p:nvPr/>
        </p:nvSpPr>
        <p:spPr>
          <a:xfrm>
            <a:off x="457200" y="1764792"/>
            <a:ext cx="5120640" cy="34747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500" b="1">
                <a:solidFill>
                  <a:srgbClr val="DC2626"/>
                </a:solidFill>
                <a:latin typeface="Arial"/>
              </a:defRPr>
            </a:pPr>
            <a:r>
              <a:rPr dirty="0"/>
              <a:t>CLINIC A: CRITICAL STOCKOUT</a:t>
            </a:r>
          </a:p>
          <a:p>
            <a:pPr>
              <a:spcBef>
                <a:spcPts val="400"/>
              </a:spcBef>
              <a:defRPr sz="1200">
                <a:solidFill>
                  <a:srgbClr val="64748B"/>
                </a:solidFill>
                <a:latin typeface="Arial"/>
              </a:defRPr>
            </a:pPr>
            <a:r>
              <a:rPr lang="en-US" dirty="0"/>
              <a:t>                          </a:t>
            </a:r>
            <a:r>
              <a:rPr dirty="0"/>
              <a:t>PHC </a:t>
            </a:r>
            <a:r>
              <a:rPr dirty="0" err="1"/>
              <a:t>Bakhtiyarpur</a:t>
            </a:r>
            <a:r>
              <a:rPr dirty="0"/>
              <a:t> (District: Patna)</a:t>
            </a:r>
          </a:p>
        </p:txBody>
      </p:sp>
      <p:sp>
        <p:nvSpPr>
          <p:cNvPr id="7" name="Rectangle 6"/>
          <p:cNvSpPr/>
          <p:nvPr/>
        </p:nvSpPr>
        <p:spPr>
          <a:xfrm rot="5400000">
            <a:off x="4072796" y="3516723"/>
            <a:ext cx="3451977" cy="76129"/>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164255"/>
            <a:ext cx="4572000" cy="7772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DC2626"/>
                </a:solidFill>
                <a:latin typeface="Arial"/>
              </a:defRPr>
            </a:pPr>
            <a:r>
              <a:t>DOSA = 1.2 Days (Empty Shelves Imminent)</a:t>
            </a:r>
          </a:p>
          <a:p>
            <a:pPr algn="ctr">
              <a:defRPr sz="950">
                <a:solidFill>
                  <a:srgbClr val="64748B"/>
                </a:solidFill>
                <a:latin typeface="Consolas"/>
              </a:defRPr>
            </a:pPr>
            <a:r>
              <a:t>Days of Stock Available (DOSA = Current Stock / Daily Demand)</a:t>
            </a:r>
          </a:p>
        </p:txBody>
      </p:sp>
      <p:sp>
        <p:nvSpPr>
          <p:cNvPr id="9" name="TextBox 8"/>
          <p:cNvSpPr txBox="1"/>
          <p:nvPr/>
        </p:nvSpPr>
        <p:spPr>
          <a:xfrm>
            <a:off x="640080" y="3473137"/>
            <a:ext cx="4754880" cy="1737360"/>
          </a:xfrm>
          <a:prstGeom prst="rect">
            <a:avLst/>
          </a:prstGeom>
          <a:noFill/>
        </p:spPr>
        <p:txBody>
          <a:bodyPr wrap="square">
            <a:spAutoFit/>
          </a:bodyPr>
          <a:lstStyle/>
          <a:p>
            <a:endParaRPr dirty="0"/>
          </a:p>
          <a:p>
            <a:pPr>
              <a:spcBef>
                <a:spcPts val="600"/>
              </a:spcBef>
              <a:defRPr sz="1200">
                <a:solidFill>
                  <a:srgbClr val="1E293B"/>
                </a:solidFill>
                <a:latin typeface="Arial"/>
              </a:defRPr>
            </a:pPr>
            <a:r>
              <a:rPr dirty="0"/>
              <a:t>• Monsoon Flood Outbreak: +340% demand surge for Paracetamol &amp; IV fluids.</a:t>
            </a:r>
          </a:p>
          <a:p>
            <a:pPr>
              <a:spcBef>
                <a:spcPts val="600"/>
              </a:spcBef>
              <a:defRPr sz="1200">
                <a:solidFill>
                  <a:srgbClr val="1E293B"/>
                </a:solidFill>
                <a:latin typeface="Arial"/>
              </a:defRPr>
            </a:pPr>
            <a:r>
              <a:rPr dirty="0"/>
              <a:t>• Complete Blindness: Clinic runs dry by Day 3; emergency patients turned away.</a:t>
            </a:r>
          </a:p>
          <a:p>
            <a:pPr>
              <a:spcBef>
                <a:spcPts val="600"/>
              </a:spcBef>
              <a:defRPr sz="1200">
                <a:solidFill>
                  <a:srgbClr val="1E293B"/>
                </a:solidFill>
                <a:latin typeface="Arial"/>
              </a:defRPr>
            </a:pPr>
            <a:r>
              <a:rPr dirty="0"/>
              <a:t>• Bureaucratic Inertia: Manual paperwork requisition takes 5 to 7 working days.</a:t>
            </a:r>
          </a:p>
        </p:txBody>
      </p:sp>
      <p:sp>
        <p:nvSpPr>
          <p:cNvPr id="10" name="Rounded Rectangle 9"/>
          <p:cNvSpPr/>
          <p:nvPr/>
        </p:nvSpPr>
        <p:spPr>
          <a:xfrm>
            <a:off x="6339535" y="1828800"/>
            <a:ext cx="5120640" cy="3474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500" b="1">
                <a:solidFill>
                  <a:srgbClr val="1D4ED8"/>
                </a:solidFill>
                <a:latin typeface="Arial"/>
              </a:defRPr>
            </a:pPr>
            <a:r>
              <a:rPr dirty="0"/>
              <a:t>CLINIC B: IDLE UNUSED SURPLUS</a:t>
            </a:r>
          </a:p>
          <a:p>
            <a:pPr>
              <a:spcBef>
                <a:spcPts val="400"/>
              </a:spcBef>
              <a:defRPr sz="1200">
                <a:solidFill>
                  <a:srgbClr val="64748B"/>
                </a:solidFill>
                <a:latin typeface="Arial"/>
              </a:defRPr>
            </a:pPr>
            <a:r>
              <a:rPr lang="en-US" dirty="0"/>
              <a:t>                   </a:t>
            </a:r>
            <a:r>
              <a:rPr dirty="0"/>
              <a:t>PHC </a:t>
            </a:r>
            <a:r>
              <a:rPr dirty="0" err="1"/>
              <a:t>Danapur</a:t>
            </a:r>
            <a:r>
              <a:rPr dirty="0"/>
              <a:t> (Distance: 18.4 km via NH31)</a:t>
            </a:r>
          </a:p>
        </p:txBody>
      </p:sp>
      <p:sp>
        <p:nvSpPr>
          <p:cNvPr id="11" name="Rectangle 10"/>
          <p:cNvSpPr/>
          <p:nvPr/>
        </p:nvSpPr>
        <p:spPr>
          <a:xfrm rot="5400000">
            <a:off x="4416289" y="3525869"/>
            <a:ext cx="3433689" cy="7612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22415" y="2221992"/>
            <a:ext cx="4572000" cy="7772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D4ED8"/>
                </a:solidFill>
                <a:latin typeface="Arial"/>
              </a:defRPr>
            </a:pPr>
            <a:r>
              <a:rPr dirty="0"/>
              <a:t>DOSA = 48.5 Days (Idle Excess Surplus)</a:t>
            </a:r>
          </a:p>
          <a:p>
            <a:pPr algn="ctr">
              <a:defRPr sz="950">
                <a:solidFill>
                  <a:srgbClr val="64748B"/>
                </a:solidFill>
                <a:latin typeface="Consolas"/>
              </a:defRPr>
            </a:pPr>
            <a:r>
              <a:rPr dirty="0"/>
              <a:t>Sitting on 3,500 unopened packs of Paracetamol &amp; Amoxicillin</a:t>
            </a:r>
          </a:p>
        </p:txBody>
      </p:sp>
      <p:sp>
        <p:nvSpPr>
          <p:cNvPr id="13" name="TextBox 12"/>
          <p:cNvSpPr txBox="1"/>
          <p:nvPr/>
        </p:nvSpPr>
        <p:spPr>
          <a:xfrm>
            <a:off x="6522415" y="3502152"/>
            <a:ext cx="4754880" cy="1737360"/>
          </a:xfrm>
          <a:prstGeom prst="rect">
            <a:avLst/>
          </a:prstGeom>
          <a:noFill/>
        </p:spPr>
        <p:txBody>
          <a:bodyPr wrap="square">
            <a:spAutoFit/>
          </a:bodyPr>
          <a:lstStyle/>
          <a:p>
            <a:endParaRPr dirty="0"/>
          </a:p>
          <a:p>
            <a:pPr>
              <a:spcBef>
                <a:spcPts val="600"/>
              </a:spcBef>
              <a:defRPr sz="1200">
                <a:solidFill>
                  <a:srgbClr val="1E293B"/>
                </a:solidFill>
                <a:latin typeface="Arial"/>
              </a:defRPr>
            </a:pPr>
            <a:r>
              <a:rPr dirty="0"/>
              <a:t>• Invisible Inventory: District officers cannot s</a:t>
            </a:r>
            <a:r>
              <a:rPr lang="en-US" dirty="0"/>
              <a:t>ee real-time cross-facility stock.</a:t>
            </a:r>
          </a:p>
          <a:p>
            <a:pPr>
              <a:spcBef>
                <a:spcPts val="600"/>
              </a:spcBef>
              <a:defRPr sz="1200">
                <a:solidFill>
                  <a:srgbClr val="1E293B"/>
                </a:solidFill>
                <a:latin typeface="Arial"/>
              </a:defRPr>
            </a:pPr>
            <a:r>
              <a:rPr dirty="0"/>
              <a:t>• Waste &amp; Expiry: Life-saving medicine risks expiring on shelves while neighbors die.</a:t>
            </a:r>
          </a:p>
          <a:p>
            <a:pPr>
              <a:spcBef>
                <a:spcPts val="600"/>
              </a:spcBef>
              <a:defRPr sz="1200">
                <a:solidFill>
                  <a:srgbClr val="1E293B"/>
                </a:solidFill>
                <a:latin typeface="Arial"/>
              </a:defRPr>
            </a:pPr>
            <a:r>
              <a:rPr dirty="0"/>
              <a:t>• Zero Coordination: No automated mechanism to pair surplus donors with clinics in deficit.</a:t>
            </a:r>
          </a:p>
        </p:txBody>
      </p:sp>
      <p:sp>
        <p:nvSpPr>
          <p:cNvPr id="14" name="Rounded Rectangle 13"/>
          <p:cNvSpPr/>
          <p:nvPr/>
        </p:nvSpPr>
        <p:spPr>
          <a:xfrm>
            <a:off x="731520" y="5486400"/>
            <a:ext cx="10728655" cy="59436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latin typeface="Arial"/>
              </a:defRPr>
            </a:pPr>
            <a:r>
              <a:t>⚠️ THE ROOT CAUSE: Healthcare supply chains are reactive, siloed, and paper-bound. By the time a stockout is reported, it is already too late.</a:t>
            </a:r>
          </a:p>
        </p:txBody>
      </p:sp>
      <p:sp>
        <p:nvSpPr>
          <p:cNvPr id="15" name="Rectangle 1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02 of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03 / OUR SOLUTION</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The 4-Pillar Autonomous Health Resilience Grid</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rPr dirty="0"/>
              <a:t>Transforming fragmented operational telemetry into predictive, automated early action.</a:t>
            </a:r>
          </a:p>
        </p:txBody>
      </p:sp>
      <p:sp>
        <p:nvSpPr>
          <p:cNvPr id="6" name="Rounded Rectangle 5"/>
          <p:cNvSpPr/>
          <p:nvPr/>
        </p:nvSpPr>
        <p:spPr>
          <a:xfrm>
            <a:off x="731520" y="1920240"/>
            <a:ext cx="2514600" cy="4114800"/>
          </a:xfrm>
          <a:prstGeom prst="roundRect">
            <a:avLst/>
          </a:prstGeom>
          <a:solidFill>
            <a:srgbClr val="FFFFFF"/>
          </a:solidFill>
          <a:ln w="19050">
            <a:solidFill>
              <a:srgbClr val="0891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100" b="1">
                <a:solidFill>
                  <a:srgbClr val="0891B2"/>
                </a:solidFill>
                <a:latin typeface="Consolas"/>
              </a:defRPr>
            </a:pPr>
            <a:r>
              <a:t>01 / PREDICT</a:t>
            </a:r>
          </a:p>
          <a:p>
            <a:pPr>
              <a:spcBef>
                <a:spcPts val="400"/>
              </a:spcBef>
              <a:defRPr sz="1400" b="1">
                <a:solidFill>
                  <a:srgbClr val="0F172A"/>
                </a:solidFill>
                <a:latin typeface="Arial"/>
              </a:defRPr>
            </a:pPr>
            <a:r>
              <a:t>Time-Series AI Forecasting</a:t>
            </a:r>
          </a:p>
          <a:p>
            <a:pPr>
              <a:spcBef>
                <a:spcPts val="1000"/>
              </a:spcBef>
              <a:defRPr sz="1150">
                <a:solidFill>
                  <a:srgbClr val="334155"/>
                </a:solidFill>
                <a:latin typeface="Arial"/>
              </a:defRPr>
            </a:pPr>
            <a:r>
              <a:t>Regularized Ridge &amp; LightGBM multi-horizon models predict demand surges 7 &amp; 14 days in advance.</a:t>
            </a:r>
            <a:br/>
            <a:br/>
            <a:r>
              <a:t>• Eliminates temporal data leakage</a:t>
            </a:r>
            <a:br/>
            <a:r>
              <a:t>• Incorporates OPD footfall &amp; weather</a:t>
            </a:r>
            <a:br/>
            <a:r>
              <a:t>• 51.7% better accuracy than moving avg</a:t>
            </a:r>
          </a:p>
        </p:txBody>
      </p:sp>
      <p:sp>
        <p:nvSpPr>
          <p:cNvPr id="7" name="Rectangle 6"/>
          <p:cNvSpPr/>
          <p:nvPr/>
        </p:nvSpPr>
        <p:spPr>
          <a:xfrm>
            <a:off x="731520" y="1904610"/>
            <a:ext cx="2514600" cy="73152"/>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5486400"/>
            <a:ext cx="2148840" cy="365760"/>
          </a:xfrm>
          <a:prstGeom prst="roundRect">
            <a:avLst/>
          </a:prstGeom>
          <a:solidFill>
            <a:srgbClr val="F0FDFA"/>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891B2"/>
                </a:solidFill>
                <a:latin typeface="Consolas"/>
              </a:defRPr>
            </a:pPr>
            <a:r>
              <a:t>51.7% MAE GAIN</a:t>
            </a:r>
          </a:p>
        </p:txBody>
      </p:sp>
      <p:sp>
        <p:nvSpPr>
          <p:cNvPr id="9" name="Rounded Rectangle 8"/>
          <p:cNvSpPr/>
          <p:nvPr/>
        </p:nvSpPr>
        <p:spPr>
          <a:xfrm>
            <a:off x="3465576" y="1920240"/>
            <a:ext cx="2514600" cy="41148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100" b="1">
                <a:solidFill>
                  <a:srgbClr val="D97706"/>
                </a:solidFill>
                <a:latin typeface="Consolas"/>
              </a:defRPr>
            </a:pPr>
            <a:r>
              <a:rPr dirty="0"/>
              <a:t>02 / WARN</a:t>
            </a:r>
            <a:endParaRPr lang="en-US" dirty="0"/>
          </a:p>
          <a:p>
            <a:pPr algn="ctr">
              <a:spcBef>
                <a:spcPts val="1200"/>
              </a:spcBef>
              <a:defRPr sz="1100" b="1">
                <a:solidFill>
                  <a:srgbClr val="D97706"/>
                </a:solidFill>
                <a:latin typeface="Consolas"/>
              </a:defRPr>
            </a:pPr>
            <a:endParaRPr dirty="0"/>
          </a:p>
          <a:p>
            <a:pPr>
              <a:spcBef>
                <a:spcPts val="400"/>
              </a:spcBef>
              <a:defRPr sz="1400" b="1">
                <a:solidFill>
                  <a:srgbClr val="0F172A"/>
                </a:solidFill>
                <a:latin typeface="Arial"/>
              </a:defRPr>
            </a:pPr>
            <a:r>
              <a:rPr dirty="0"/>
              <a:t>72-Hour Risk Engine</a:t>
            </a:r>
          </a:p>
          <a:p>
            <a:pPr>
              <a:spcBef>
                <a:spcPts val="1000"/>
              </a:spcBef>
              <a:defRPr sz="1150">
                <a:solidFill>
                  <a:srgbClr val="334155"/>
                </a:solidFill>
                <a:latin typeface="Arial"/>
              </a:defRPr>
            </a:pPr>
            <a:r>
              <a:rPr dirty="0"/>
              <a:t>Mathematical calculation of Days of Stock Available (DOSA = Stock / Demand).</a:t>
            </a:r>
            <a:br>
              <a:rPr dirty="0"/>
            </a:br>
            <a:br>
              <a:rPr dirty="0"/>
            </a:br>
            <a:r>
              <a:rPr dirty="0"/>
              <a:t>• Automated early warnings when DOSA &lt; 3.0d</a:t>
            </a:r>
            <a:br>
              <a:rPr dirty="0"/>
            </a:br>
            <a:r>
              <a:rPr dirty="0"/>
              <a:t>• Flags shortages 72 hours early</a:t>
            </a:r>
            <a:br>
              <a:rPr dirty="0"/>
            </a:br>
            <a:r>
              <a:rPr dirty="0"/>
              <a:t>• Categorizes facilities into 4 risk tiers</a:t>
            </a:r>
          </a:p>
        </p:txBody>
      </p:sp>
      <p:sp>
        <p:nvSpPr>
          <p:cNvPr id="10" name="Rectangle 9"/>
          <p:cNvSpPr/>
          <p:nvPr/>
        </p:nvSpPr>
        <p:spPr>
          <a:xfrm>
            <a:off x="3465576" y="1904610"/>
            <a:ext cx="25146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48456" y="5486400"/>
            <a:ext cx="2148840" cy="3657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D97706"/>
                </a:solidFill>
                <a:latin typeface="Consolas"/>
              </a:defRPr>
            </a:pPr>
            <a:r>
              <a:t>72-HR LEAD TIME</a:t>
            </a:r>
          </a:p>
        </p:txBody>
      </p:sp>
      <p:sp>
        <p:nvSpPr>
          <p:cNvPr id="12" name="Rounded Rectangle 11"/>
          <p:cNvSpPr/>
          <p:nvPr/>
        </p:nvSpPr>
        <p:spPr>
          <a:xfrm>
            <a:off x="6199632" y="1920240"/>
            <a:ext cx="251460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100" b="1">
                <a:solidFill>
                  <a:srgbClr val="059669"/>
                </a:solidFill>
                <a:latin typeface="Consolas"/>
              </a:defRPr>
            </a:pPr>
            <a:r>
              <a:rPr dirty="0"/>
              <a:t>03 / REDISTRIBUTE</a:t>
            </a:r>
            <a:endParaRPr lang="en-US" dirty="0"/>
          </a:p>
          <a:p>
            <a:pPr algn="ctr">
              <a:spcBef>
                <a:spcPts val="1200"/>
              </a:spcBef>
              <a:defRPr sz="1100" b="1">
                <a:solidFill>
                  <a:srgbClr val="059669"/>
                </a:solidFill>
                <a:latin typeface="Consolas"/>
              </a:defRPr>
            </a:pPr>
            <a:endParaRPr dirty="0"/>
          </a:p>
          <a:p>
            <a:pPr>
              <a:spcBef>
                <a:spcPts val="400"/>
              </a:spcBef>
              <a:defRPr sz="1400" b="1">
                <a:solidFill>
                  <a:srgbClr val="0F172A"/>
                </a:solidFill>
                <a:latin typeface="Arial"/>
              </a:defRPr>
            </a:pPr>
            <a:r>
              <a:rPr dirty="0"/>
              <a:t>Google OR-Tools MILP</a:t>
            </a:r>
          </a:p>
          <a:p>
            <a:pPr>
              <a:spcBef>
                <a:spcPts val="1000"/>
              </a:spcBef>
              <a:defRPr sz="1150">
                <a:solidFill>
                  <a:srgbClr val="334155"/>
                </a:solidFill>
                <a:latin typeface="Arial"/>
              </a:defRPr>
            </a:pPr>
            <a:r>
              <a:rPr dirty="0"/>
              <a:t>Combinatorial Mixed-Integer Linear Programming rebalances multi-donor, multi-recipient nodes.</a:t>
            </a:r>
            <a:br>
              <a:rPr dirty="0"/>
            </a:br>
            <a:br>
              <a:rPr dirty="0"/>
            </a:br>
            <a:r>
              <a:rPr dirty="0"/>
              <a:t>• Strict 50 km road transit radius</a:t>
            </a:r>
            <a:br>
              <a:rPr dirty="0"/>
            </a:br>
            <a:r>
              <a:rPr dirty="0"/>
              <a:t>• Zero Donor Deficit mathematical guarantee</a:t>
            </a:r>
            <a:br>
              <a:rPr dirty="0"/>
            </a:br>
            <a:r>
              <a:rPr dirty="0"/>
              <a:t>• Solves in under 45 milliseconds</a:t>
            </a:r>
          </a:p>
        </p:txBody>
      </p:sp>
      <p:sp>
        <p:nvSpPr>
          <p:cNvPr id="13" name="Rectangle 12"/>
          <p:cNvSpPr/>
          <p:nvPr/>
        </p:nvSpPr>
        <p:spPr>
          <a:xfrm>
            <a:off x="6199632" y="1904610"/>
            <a:ext cx="251460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82512" y="5486400"/>
            <a:ext cx="2148840" cy="3657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59669"/>
                </a:solidFill>
                <a:latin typeface="Consolas"/>
              </a:defRPr>
            </a:pPr>
            <a:r>
              <a:t>0.0% DONOR DEFICIT</a:t>
            </a:r>
          </a:p>
        </p:txBody>
      </p:sp>
      <p:sp>
        <p:nvSpPr>
          <p:cNvPr id="15" name="Rounded Rectangle 14"/>
          <p:cNvSpPr/>
          <p:nvPr/>
        </p:nvSpPr>
        <p:spPr>
          <a:xfrm>
            <a:off x="8933688" y="1920240"/>
            <a:ext cx="2514600" cy="41148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100" b="1">
                <a:solidFill>
                  <a:srgbClr val="7C3AED"/>
                </a:solidFill>
                <a:latin typeface="Consolas"/>
              </a:defRPr>
            </a:pPr>
            <a:r>
              <a:rPr dirty="0"/>
              <a:t>04 / RESPOND</a:t>
            </a:r>
            <a:endParaRPr lang="en-US" dirty="0"/>
          </a:p>
          <a:p>
            <a:pPr algn="ctr">
              <a:spcBef>
                <a:spcPts val="1200"/>
              </a:spcBef>
              <a:defRPr sz="1100" b="1">
                <a:solidFill>
                  <a:srgbClr val="7C3AED"/>
                </a:solidFill>
                <a:latin typeface="Consolas"/>
              </a:defRPr>
            </a:pPr>
            <a:endParaRPr dirty="0"/>
          </a:p>
          <a:p>
            <a:pPr>
              <a:spcBef>
                <a:spcPts val="400"/>
              </a:spcBef>
              <a:defRPr sz="1400" b="1">
                <a:solidFill>
                  <a:srgbClr val="0F172A"/>
                </a:solidFill>
                <a:latin typeface="Arial"/>
              </a:defRPr>
            </a:pPr>
            <a:r>
              <a:rPr dirty="0"/>
              <a:t>Grounded Gemini 2.5 Flash</a:t>
            </a:r>
          </a:p>
          <a:p>
            <a:pPr>
              <a:spcBef>
                <a:spcPts val="1000"/>
              </a:spcBef>
              <a:defRPr sz="1150">
                <a:solidFill>
                  <a:srgbClr val="334155"/>
                </a:solidFill>
                <a:latin typeface="Arial"/>
              </a:defRPr>
            </a:pPr>
            <a:r>
              <a:rPr dirty="0"/>
              <a:t>Voice-enabled, bilingual (English / Hindi) Operations Copilot for healthcare directors.</a:t>
            </a:r>
            <a:br>
              <a:rPr dirty="0"/>
            </a:br>
            <a:br>
              <a:rPr dirty="0"/>
            </a:br>
            <a:r>
              <a:rPr dirty="0"/>
              <a:t>• Grounded in 10+ deterministic Python tools</a:t>
            </a:r>
            <a:br>
              <a:rPr dirty="0"/>
            </a:br>
            <a:r>
              <a:rPr dirty="0"/>
              <a:t>• 1-Click Verified Evidence Drawer</a:t>
            </a:r>
            <a:br>
              <a:rPr dirty="0"/>
            </a:br>
            <a:r>
              <a:rPr dirty="0"/>
              <a:t>• What-If disaster scenario sandboxing</a:t>
            </a:r>
          </a:p>
        </p:txBody>
      </p:sp>
      <p:sp>
        <p:nvSpPr>
          <p:cNvPr id="16" name="Rectangle 15"/>
          <p:cNvSpPr/>
          <p:nvPr/>
        </p:nvSpPr>
        <p:spPr>
          <a:xfrm>
            <a:off x="8933688" y="1904610"/>
            <a:ext cx="25146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16568" y="5486400"/>
            <a:ext cx="2148840" cy="3657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7C3AED"/>
                </a:solidFill>
                <a:latin typeface="Consolas"/>
              </a:defRPr>
            </a:pPr>
            <a:r>
              <a:t>100% GROUNDED AI</a:t>
            </a:r>
          </a:p>
        </p:txBody>
      </p:sp>
      <p:sp>
        <p:nvSpPr>
          <p:cNvPr id="18" name="Rectangle 17"/>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03 of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04 / PREDICTIVE INTELLIGENCE</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Pillar 1: Multi-Horizon Machine Learning Demand Forecasting</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Eliminating blind spots using chronological feature pipelines and regularized GLM regressors.</a:t>
            </a:r>
          </a:p>
        </p:txBody>
      </p:sp>
      <p:sp>
        <p:nvSpPr>
          <p:cNvPr id="6" name="Rounded Rectangle 5"/>
          <p:cNvSpPr/>
          <p:nvPr/>
        </p:nvSpPr>
        <p:spPr>
          <a:xfrm>
            <a:off x="731520" y="1920240"/>
            <a:ext cx="5120640" cy="4114800"/>
          </a:xfrm>
          <a:prstGeom prst="roundRect">
            <a:avLst/>
          </a:prstGeom>
          <a:solidFill>
            <a:srgbClr val="FFFFFF"/>
          </a:solidFill>
          <a:ln w="19050">
            <a:solidFill>
              <a:srgbClr val="0891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891B2"/>
                </a:solidFill>
                <a:latin typeface="Arial"/>
              </a:defRPr>
            </a:pPr>
            <a:r>
              <a:rPr dirty="0"/>
              <a:t>Feature Pipeline &amp; Leakage Elimination</a:t>
            </a:r>
            <a:endParaRPr lang="en-US" dirty="0"/>
          </a:p>
          <a:p>
            <a:pPr algn="ctr">
              <a:defRPr sz="1600" b="1">
                <a:solidFill>
                  <a:srgbClr val="0891B2"/>
                </a:solidFill>
                <a:latin typeface="Arial"/>
              </a:defRPr>
            </a:pPr>
            <a:endParaRPr lang="en-IN" dirty="0"/>
          </a:p>
          <a:p>
            <a:pPr algn="ctr">
              <a:defRPr sz="1600" b="1">
                <a:solidFill>
                  <a:srgbClr val="0891B2"/>
                </a:solidFill>
                <a:latin typeface="Arial"/>
              </a:defRPr>
            </a:pPr>
            <a:endParaRPr dirty="0"/>
          </a:p>
          <a:p>
            <a:pPr>
              <a:spcBef>
                <a:spcPts val="800"/>
              </a:spcBef>
              <a:defRPr sz="1200">
                <a:solidFill>
                  <a:srgbClr val="1E293B"/>
                </a:solidFill>
                <a:latin typeface="Arial"/>
              </a:defRPr>
            </a:pPr>
            <a:r>
              <a:rPr dirty="0"/>
              <a:t>• Strict Chronological Split: 70% Train, 15% Val, 15% Test without temporal leakage across dates.</a:t>
            </a:r>
          </a:p>
          <a:p>
            <a:pPr>
              <a:spcBef>
                <a:spcPts val="800"/>
              </a:spcBef>
              <a:defRPr sz="1200">
                <a:solidFill>
                  <a:srgbClr val="1E293B"/>
                </a:solidFill>
                <a:latin typeface="Arial"/>
              </a:defRPr>
            </a:pPr>
            <a:r>
              <a:rPr dirty="0"/>
              <a:t>• Multi-Order Lags: Consumption shifts across 1-day, 2-day, 3-day, 7-day, and 14-day intervals.</a:t>
            </a:r>
          </a:p>
          <a:p>
            <a:pPr>
              <a:spcBef>
                <a:spcPts val="800"/>
              </a:spcBef>
              <a:defRPr sz="1200">
                <a:solidFill>
                  <a:srgbClr val="1E293B"/>
                </a:solidFill>
                <a:latin typeface="Arial"/>
              </a:defRPr>
            </a:pPr>
            <a:r>
              <a:rPr dirty="0"/>
              <a:t>• Calendar Signals: Day-of-week, weekend effects, Monday outpatient surge indices, and seasonality.</a:t>
            </a:r>
          </a:p>
          <a:p>
            <a:pPr>
              <a:spcBef>
                <a:spcPts val="800"/>
              </a:spcBef>
              <a:defRPr sz="1200">
                <a:solidFill>
                  <a:srgbClr val="1E293B"/>
                </a:solidFill>
                <a:latin typeface="Arial"/>
              </a:defRPr>
            </a:pPr>
            <a:r>
              <a:rPr dirty="0"/>
              <a:t>• Contextual Multipliers: Real-time patient OPD footfall, bed occupancy rates, and active epidemic status.</a:t>
            </a:r>
          </a:p>
          <a:p>
            <a:pPr>
              <a:spcBef>
                <a:spcPts val="800"/>
              </a:spcBef>
              <a:defRPr sz="1200">
                <a:solidFill>
                  <a:srgbClr val="1E293B"/>
                </a:solidFill>
                <a:latin typeface="Arial"/>
              </a:defRPr>
            </a:pPr>
            <a:r>
              <a:rPr dirty="0"/>
              <a:t>• Uncertainty Modeling: Outputs point forecasts (p50) plus p10 &amp; p90 quantile intervals for risk safety buffers.</a:t>
            </a:r>
          </a:p>
        </p:txBody>
      </p:sp>
      <p:sp>
        <p:nvSpPr>
          <p:cNvPr id="7" name="Rounded Rectangle 6"/>
          <p:cNvSpPr/>
          <p:nvPr/>
        </p:nvSpPr>
        <p:spPr>
          <a:xfrm>
            <a:off x="6339535" y="1920240"/>
            <a:ext cx="512064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59669"/>
                </a:solidFill>
                <a:latin typeface="Arial"/>
              </a:defRPr>
            </a:pPr>
            <a:r>
              <a:t>Empirical Benchmark vs. 7-Day Moving Average</a:t>
            </a:r>
          </a:p>
        </p:txBody>
      </p:sp>
      <p:graphicFrame>
        <p:nvGraphicFramePr>
          <p:cNvPr id="8" name="Table 7"/>
          <p:cNvGraphicFramePr>
            <a:graphicFrameLocks noGrp="1"/>
          </p:cNvGraphicFramePr>
          <p:nvPr>
            <p:extLst>
              <p:ext uri="{D42A27DB-BD31-4B8C-83A1-F6EECF244321}">
                <p14:modId xmlns:p14="http://schemas.microsoft.com/office/powerpoint/2010/main" val="3207627071"/>
              </p:ext>
            </p:extLst>
          </p:nvPr>
        </p:nvGraphicFramePr>
        <p:xfrm>
          <a:off x="6522415" y="2301162"/>
          <a:ext cx="4754880" cy="20116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02920">
                <a:tc>
                  <a:txBody>
                    <a:bodyPr/>
                    <a:lstStyle/>
                    <a:p>
                      <a:pPr>
                        <a:defRPr sz="1100" b="1">
                          <a:solidFill>
                            <a:srgbClr val="1D4ED8"/>
                          </a:solidFill>
                          <a:latin typeface="Arial"/>
                        </a:defRPr>
                      </a:pPr>
                      <a:r>
                        <a:t>Forecasting Task</a:t>
                      </a:r>
                    </a:p>
                  </a:txBody>
                  <a:tcPr>
                    <a:solidFill>
                      <a:srgbClr val="F1F5F9"/>
                    </a:solidFill>
                  </a:tcPr>
                </a:tc>
                <a:tc>
                  <a:txBody>
                    <a:bodyPr/>
                    <a:lstStyle/>
                    <a:p>
                      <a:pPr>
                        <a:defRPr sz="1100" b="1">
                          <a:solidFill>
                            <a:srgbClr val="1D4ED8"/>
                          </a:solidFill>
                          <a:latin typeface="Arial"/>
                        </a:defRPr>
                      </a:pPr>
                      <a:r>
                        <a:t>Baseline (7d MA)</a:t>
                      </a:r>
                    </a:p>
                  </a:txBody>
                  <a:tcPr>
                    <a:solidFill>
                      <a:srgbClr val="F1F5F9"/>
                    </a:solidFill>
                  </a:tcPr>
                </a:tc>
                <a:tc>
                  <a:txBody>
                    <a:bodyPr/>
                    <a:lstStyle/>
                    <a:p>
                      <a:pPr>
                        <a:defRPr sz="1100" b="1">
                          <a:solidFill>
                            <a:srgbClr val="1D4ED8"/>
                          </a:solidFill>
                          <a:latin typeface="Arial"/>
                        </a:defRPr>
                      </a:pPr>
                      <a:r>
                        <a:rPr dirty="0" err="1"/>
                        <a:t>Swasthya</a:t>
                      </a:r>
                      <a:r>
                        <a:rPr dirty="0"/>
                        <a:t> ML</a:t>
                      </a:r>
                    </a:p>
                  </a:txBody>
                  <a:tcPr>
                    <a:solidFill>
                      <a:srgbClr val="F1F5F9"/>
                    </a:solidFill>
                  </a:tcPr>
                </a:tc>
                <a:tc>
                  <a:txBody>
                    <a:bodyPr/>
                    <a:lstStyle/>
                    <a:p>
                      <a:pPr>
                        <a:defRPr sz="1100" b="1">
                          <a:solidFill>
                            <a:srgbClr val="1D4ED8"/>
                          </a:solidFill>
                          <a:latin typeface="Arial"/>
                        </a:defRPr>
                      </a:pPr>
                      <a:r>
                        <a:t>Gain</a:t>
                      </a:r>
                    </a:p>
                  </a:txBody>
                  <a:tcPr>
                    <a:solidFill>
                      <a:srgbClr val="F1F5F9"/>
                    </a:solidFill>
                  </a:tcPr>
                </a:tc>
                <a:extLst>
                  <a:ext uri="{0D108BD9-81ED-4DB2-BD59-A6C34878D82A}">
                    <a16:rowId xmlns:a16="http://schemas.microsoft.com/office/drawing/2014/main" val="10000"/>
                  </a:ext>
                </a:extLst>
              </a:tr>
              <a:tr h="502920">
                <a:tc>
                  <a:txBody>
                    <a:bodyPr/>
                    <a:lstStyle/>
                    <a:p>
                      <a:pPr>
                        <a:defRPr sz="1100">
                          <a:solidFill>
                            <a:srgbClr val="1E293B"/>
                          </a:solidFill>
                          <a:latin typeface="Arial"/>
                        </a:defRPr>
                      </a:pPr>
                      <a:r>
                        <a:t>Medicine Demand MAE</a:t>
                      </a:r>
                    </a:p>
                  </a:txBody>
                  <a:tcPr>
                    <a:solidFill>
                      <a:srgbClr val="FFFFFF"/>
                    </a:solidFill>
                  </a:tcPr>
                </a:tc>
                <a:tc>
                  <a:txBody>
                    <a:bodyPr/>
                    <a:lstStyle/>
                    <a:p>
                      <a:pPr>
                        <a:defRPr sz="1100">
                          <a:solidFill>
                            <a:srgbClr val="1E293B"/>
                          </a:solidFill>
                          <a:latin typeface="Arial"/>
                        </a:defRPr>
                      </a:pPr>
                      <a:r>
                        <a:t>29.42 units</a:t>
                      </a:r>
                    </a:p>
                  </a:txBody>
                  <a:tcPr>
                    <a:solidFill>
                      <a:srgbClr val="FFFFFF"/>
                    </a:solidFill>
                  </a:tcPr>
                </a:tc>
                <a:tc>
                  <a:txBody>
                    <a:bodyPr/>
                    <a:lstStyle/>
                    <a:p>
                      <a:pPr>
                        <a:defRPr sz="1100">
                          <a:solidFill>
                            <a:srgbClr val="1E293B"/>
                          </a:solidFill>
                          <a:latin typeface="Arial"/>
                        </a:defRPr>
                      </a:pPr>
                      <a:r>
                        <a:t>14.21 units</a:t>
                      </a:r>
                    </a:p>
                  </a:txBody>
                  <a:tcPr>
                    <a:solidFill>
                      <a:srgbClr val="FFFFFF"/>
                    </a:solidFill>
                  </a:tcPr>
                </a:tc>
                <a:tc>
                  <a:txBody>
                    <a:bodyPr/>
                    <a:lstStyle/>
                    <a:p>
                      <a:pPr>
                        <a:defRPr sz="1100" b="1">
                          <a:solidFill>
                            <a:srgbClr val="059669"/>
                          </a:solidFill>
                          <a:latin typeface="Arial"/>
                        </a:defRPr>
                      </a:pPr>
                      <a:r>
                        <a:t>+51.72%</a:t>
                      </a:r>
                    </a:p>
                  </a:txBody>
                  <a:tcPr>
                    <a:solidFill>
                      <a:srgbClr val="FFFFFF"/>
                    </a:solidFill>
                  </a:tcPr>
                </a:tc>
                <a:extLst>
                  <a:ext uri="{0D108BD9-81ED-4DB2-BD59-A6C34878D82A}">
                    <a16:rowId xmlns:a16="http://schemas.microsoft.com/office/drawing/2014/main" val="10001"/>
                  </a:ext>
                </a:extLst>
              </a:tr>
              <a:tr h="502920">
                <a:tc>
                  <a:txBody>
                    <a:bodyPr/>
                    <a:lstStyle/>
                    <a:p>
                      <a:pPr>
                        <a:defRPr sz="1100">
                          <a:solidFill>
                            <a:srgbClr val="1E293B"/>
                          </a:solidFill>
                          <a:latin typeface="Arial"/>
                        </a:defRPr>
                      </a:pPr>
                      <a:r>
                        <a:t>Patient Footfall MAE</a:t>
                      </a:r>
                    </a:p>
                  </a:txBody>
                  <a:tcPr>
                    <a:solidFill>
                      <a:srgbClr val="FFFFFF"/>
                    </a:solidFill>
                  </a:tcPr>
                </a:tc>
                <a:tc>
                  <a:txBody>
                    <a:bodyPr/>
                    <a:lstStyle/>
                    <a:p>
                      <a:pPr>
                        <a:defRPr sz="1100">
                          <a:solidFill>
                            <a:srgbClr val="1E293B"/>
                          </a:solidFill>
                          <a:latin typeface="Arial"/>
                        </a:defRPr>
                      </a:pPr>
                      <a:r>
                        <a:t>150.80 pts</a:t>
                      </a:r>
                    </a:p>
                  </a:txBody>
                  <a:tcPr>
                    <a:solidFill>
                      <a:srgbClr val="FFFFFF"/>
                    </a:solidFill>
                  </a:tcPr>
                </a:tc>
                <a:tc>
                  <a:txBody>
                    <a:bodyPr/>
                    <a:lstStyle/>
                    <a:p>
                      <a:pPr>
                        <a:defRPr sz="1100">
                          <a:solidFill>
                            <a:srgbClr val="1E293B"/>
                          </a:solidFill>
                          <a:latin typeface="Arial"/>
                        </a:defRPr>
                      </a:pPr>
                      <a:r>
                        <a:t>55.14 pts</a:t>
                      </a:r>
                    </a:p>
                  </a:txBody>
                  <a:tcPr>
                    <a:solidFill>
                      <a:srgbClr val="FFFFFF"/>
                    </a:solidFill>
                  </a:tcPr>
                </a:tc>
                <a:tc>
                  <a:txBody>
                    <a:bodyPr/>
                    <a:lstStyle/>
                    <a:p>
                      <a:pPr>
                        <a:defRPr sz="1100" b="1">
                          <a:solidFill>
                            <a:srgbClr val="059669"/>
                          </a:solidFill>
                          <a:latin typeface="Arial"/>
                        </a:defRPr>
                      </a:pPr>
                      <a:r>
                        <a:t>+63.43%</a:t>
                      </a:r>
                    </a:p>
                  </a:txBody>
                  <a:tcPr>
                    <a:solidFill>
                      <a:srgbClr val="FFFFFF"/>
                    </a:solidFill>
                  </a:tcPr>
                </a:tc>
                <a:extLst>
                  <a:ext uri="{0D108BD9-81ED-4DB2-BD59-A6C34878D82A}">
                    <a16:rowId xmlns:a16="http://schemas.microsoft.com/office/drawing/2014/main" val="10002"/>
                  </a:ext>
                </a:extLst>
              </a:tr>
              <a:tr h="502920">
                <a:tc>
                  <a:txBody>
                    <a:bodyPr/>
                    <a:lstStyle/>
                    <a:p>
                      <a:pPr>
                        <a:defRPr sz="1100">
                          <a:solidFill>
                            <a:srgbClr val="1E293B"/>
                          </a:solidFill>
                          <a:latin typeface="Arial"/>
                        </a:defRPr>
                      </a:pPr>
                      <a:r>
                        <a:t>Bed Occupancy MAE</a:t>
                      </a:r>
                    </a:p>
                  </a:txBody>
                  <a:tcPr>
                    <a:solidFill>
                      <a:srgbClr val="FFFFFF"/>
                    </a:solidFill>
                  </a:tcPr>
                </a:tc>
                <a:tc>
                  <a:txBody>
                    <a:bodyPr/>
                    <a:lstStyle/>
                    <a:p>
                      <a:pPr>
                        <a:defRPr sz="1100">
                          <a:solidFill>
                            <a:srgbClr val="1E293B"/>
                          </a:solidFill>
                          <a:latin typeface="Arial"/>
                        </a:defRPr>
                      </a:pPr>
                      <a:r>
                        <a:t>2.57 beds</a:t>
                      </a:r>
                    </a:p>
                  </a:txBody>
                  <a:tcPr>
                    <a:solidFill>
                      <a:srgbClr val="FFFFFF"/>
                    </a:solidFill>
                  </a:tcPr>
                </a:tc>
                <a:tc>
                  <a:txBody>
                    <a:bodyPr/>
                    <a:lstStyle/>
                    <a:p>
                      <a:pPr>
                        <a:defRPr sz="1100">
                          <a:solidFill>
                            <a:srgbClr val="1E293B"/>
                          </a:solidFill>
                          <a:latin typeface="Arial"/>
                        </a:defRPr>
                      </a:pPr>
                      <a:r>
                        <a:t>1.69 beds</a:t>
                      </a:r>
                    </a:p>
                  </a:txBody>
                  <a:tcPr>
                    <a:solidFill>
                      <a:srgbClr val="FFFFFF"/>
                    </a:solidFill>
                  </a:tcPr>
                </a:tc>
                <a:tc>
                  <a:txBody>
                    <a:bodyPr/>
                    <a:lstStyle/>
                    <a:p>
                      <a:pPr>
                        <a:defRPr sz="1100" b="1">
                          <a:solidFill>
                            <a:srgbClr val="059669"/>
                          </a:solidFill>
                          <a:latin typeface="Arial"/>
                        </a:defRPr>
                      </a:pPr>
                      <a:r>
                        <a:rPr dirty="0"/>
                        <a:t>+34.33%</a:t>
                      </a:r>
                    </a:p>
                  </a:txBody>
                  <a:tcPr>
                    <a:solidFill>
                      <a:srgbClr val="FFFFFF"/>
                    </a:solidFill>
                  </a:tcPr>
                </a:tc>
                <a:extLst>
                  <a:ext uri="{0D108BD9-81ED-4DB2-BD59-A6C34878D82A}">
                    <a16:rowId xmlns:a16="http://schemas.microsoft.com/office/drawing/2014/main" val="10003"/>
                  </a:ext>
                </a:extLst>
              </a:tr>
            </a:tbl>
          </a:graphicData>
        </a:graphic>
      </p:graphicFrame>
      <p:sp>
        <p:nvSpPr>
          <p:cNvPr id="9" name="Rounded Rectangle 8"/>
          <p:cNvSpPr/>
          <p:nvPr/>
        </p:nvSpPr>
        <p:spPr>
          <a:xfrm>
            <a:off x="6522415" y="4526280"/>
            <a:ext cx="4754880" cy="10972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059669"/>
                </a:solidFill>
                <a:latin typeface="Arial"/>
              </a:defRPr>
            </a:pPr>
            <a:r>
              <a:t>✓ Validated by Automated Unit Tests: Model reduces prediction error by more than half, enabling accurate 14-day stocking with zero wasteful over-hoarding.</a:t>
            </a:r>
          </a:p>
        </p:txBody>
      </p:sp>
      <p:sp>
        <p:nvSpPr>
          <p:cNvPr id="10" name="Rectangle 9"/>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04 of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05 / RISK INTELLIGENCE</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Pillar 2: Early Warning &amp; Vulnerability Triage</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Mathematically triaging facilities into 4 actionable risk tiers before critical shortages happen.</a:t>
            </a:r>
          </a:p>
        </p:txBody>
      </p:sp>
      <p:sp>
        <p:nvSpPr>
          <p:cNvPr id="6" name="Rounded Rectangle 5"/>
          <p:cNvSpPr/>
          <p:nvPr/>
        </p:nvSpPr>
        <p:spPr>
          <a:xfrm>
            <a:off x="731520" y="1920240"/>
            <a:ext cx="2514600" cy="32918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0"/>
              </a:spcBef>
              <a:defRPr sz="1400" b="1">
                <a:solidFill>
                  <a:srgbClr val="DC2626"/>
                </a:solidFill>
                <a:latin typeface="Arial"/>
              </a:defRPr>
            </a:pPr>
            <a:r>
              <a:t>CRITICAL SHORTAGE</a:t>
            </a:r>
          </a:p>
          <a:p>
            <a:pPr>
              <a:spcBef>
                <a:spcPts val="400"/>
              </a:spcBef>
              <a:defRPr sz="1200" b="1">
                <a:solidFill>
                  <a:srgbClr val="0F172A"/>
                </a:solidFill>
                <a:latin typeface="Consolas"/>
              </a:defRPr>
            </a:pPr>
            <a:r>
              <a:t>DOSA &lt; 3.0 Days</a:t>
            </a:r>
          </a:p>
          <a:p>
            <a:pPr>
              <a:spcBef>
                <a:spcPts val="800"/>
              </a:spcBef>
              <a:defRPr sz="1100">
                <a:solidFill>
                  <a:srgbClr val="334155"/>
                </a:solidFill>
                <a:latin typeface="Arial"/>
              </a:defRPr>
            </a:pPr>
            <a:r>
              <a:t>Stockout imminent within 72 hours. Automatically triggers emergency donor search and vehicle route planning.</a:t>
            </a:r>
          </a:p>
        </p:txBody>
      </p:sp>
      <p:sp>
        <p:nvSpPr>
          <p:cNvPr id="7" name="Rectangle 6"/>
          <p:cNvSpPr/>
          <p:nvPr/>
        </p:nvSpPr>
        <p:spPr>
          <a:xfrm>
            <a:off x="731520" y="1904610"/>
            <a:ext cx="251460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4663440"/>
            <a:ext cx="2240280" cy="36576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latin typeface="Consolas"/>
              </a:defRPr>
            </a:pPr>
            <a:r>
              <a:t>ACTION: RUN OR-TOOLS SOLVER</a:t>
            </a:r>
          </a:p>
        </p:txBody>
      </p:sp>
      <p:sp>
        <p:nvSpPr>
          <p:cNvPr id="9" name="Rounded Rectangle 8"/>
          <p:cNvSpPr/>
          <p:nvPr/>
        </p:nvSpPr>
        <p:spPr>
          <a:xfrm>
            <a:off x="3465576" y="1920240"/>
            <a:ext cx="2514600" cy="32918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0"/>
              </a:spcBef>
              <a:defRPr sz="1400" b="1">
                <a:solidFill>
                  <a:srgbClr val="D97706"/>
                </a:solidFill>
                <a:latin typeface="Arial"/>
              </a:defRPr>
            </a:pPr>
            <a:r>
              <a:t>HIGH VULNERABILITY</a:t>
            </a:r>
          </a:p>
          <a:p>
            <a:pPr>
              <a:spcBef>
                <a:spcPts val="400"/>
              </a:spcBef>
              <a:defRPr sz="1200" b="1">
                <a:solidFill>
                  <a:srgbClr val="0F172A"/>
                </a:solidFill>
                <a:latin typeface="Consolas"/>
              </a:defRPr>
            </a:pPr>
            <a:r>
              <a:t>3.0 &lt;= DOSA &lt; 7.0 Days</a:t>
            </a:r>
          </a:p>
          <a:p>
            <a:pPr>
              <a:spcBef>
                <a:spcPts val="800"/>
              </a:spcBef>
              <a:defRPr sz="1100">
                <a:solidFill>
                  <a:srgbClr val="334155"/>
                </a:solidFill>
                <a:latin typeface="Arial"/>
              </a:defRPr>
            </a:pPr>
            <a:r>
              <a:t>Stock will deplete below safety buffer within 7 days. Flags district procurement officer to expedite shipment.</a:t>
            </a:r>
          </a:p>
        </p:txBody>
      </p:sp>
      <p:sp>
        <p:nvSpPr>
          <p:cNvPr id="10" name="Rectangle 9"/>
          <p:cNvSpPr/>
          <p:nvPr/>
        </p:nvSpPr>
        <p:spPr>
          <a:xfrm>
            <a:off x="3465576" y="1912425"/>
            <a:ext cx="25146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02736" y="4663440"/>
            <a:ext cx="2240280" cy="3657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97706"/>
                </a:solidFill>
                <a:latin typeface="Consolas"/>
              </a:defRPr>
            </a:pPr>
            <a:r>
              <a:t>ACTION: EXPEDITE SHIPMENT</a:t>
            </a:r>
          </a:p>
        </p:txBody>
      </p:sp>
      <p:sp>
        <p:nvSpPr>
          <p:cNvPr id="12" name="Rounded Rectangle 11"/>
          <p:cNvSpPr/>
          <p:nvPr/>
        </p:nvSpPr>
        <p:spPr>
          <a:xfrm>
            <a:off x="6199632" y="1920240"/>
            <a:ext cx="2514600" cy="32918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0"/>
              </a:spcBef>
              <a:defRPr sz="1400" b="1">
                <a:solidFill>
                  <a:srgbClr val="7C3AED"/>
                </a:solidFill>
                <a:latin typeface="Arial"/>
              </a:defRPr>
            </a:pPr>
            <a:r>
              <a:t>ANOMALY DETECTED</a:t>
            </a:r>
          </a:p>
          <a:p>
            <a:pPr>
              <a:spcBef>
                <a:spcPts val="400"/>
              </a:spcBef>
              <a:defRPr sz="1200" b="1">
                <a:solidFill>
                  <a:srgbClr val="0F172A"/>
                </a:solidFill>
                <a:latin typeface="Consolas"/>
              </a:defRPr>
            </a:pPr>
            <a:r>
              <a:t>Z-Score &gt; 2.58 (p &lt; 0.01)</a:t>
            </a:r>
          </a:p>
          <a:p>
            <a:pPr>
              <a:spcBef>
                <a:spcPts val="800"/>
              </a:spcBef>
              <a:defRPr sz="1100">
                <a:solidFill>
                  <a:srgbClr val="334155"/>
                </a:solidFill>
                <a:latin typeface="Arial"/>
              </a:defRPr>
            </a:pPr>
            <a:r>
              <a:t>Sudden statistical consumption spike detected. Cross-referenced with local flood reports and fever cases.</a:t>
            </a:r>
          </a:p>
        </p:txBody>
      </p:sp>
      <p:sp>
        <p:nvSpPr>
          <p:cNvPr id="13" name="Rectangle 12"/>
          <p:cNvSpPr/>
          <p:nvPr/>
        </p:nvSpPr>
        <p:spPr>
          <a:xfrm>
            <a:off x="6199632" y="1904610"/>
            <a:ext cx="25146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36792" y="4663440"/>
            <a:ext cx="2240280" cy="36576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7C3AED"/>
                </a:solidFill>
                <a:latin typeface="Consolas"/>
              </a:defRPr>
            </a:pPr>
            <a:r>
              <a:t>ACTION: EPIDEMIC INVESTIGATION</a:t>
            </a:r>
          </a:p>
        </p:txBody>
      </p:sp>
      <p:sp>
        <p:nvSpPr>
          <p:cNvPr id="15" name="Rounded Rectangle 14"/>
          <p:cNvSpPr/>
          <p:nvPr/>
        </p:nvSpPr>
        <p:spPr>
          <a:xfrm>
            <a:off x="8933688" y="1920240"/>
            <a:ext cx="2514600" cy="32918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0"/>
              </a:spcBef>
              <a:defRPr sz="1400" b="1">
                <a:solidFill>
                  <a:srgbClr val="059669"/>
                </a:solidFill>
                <a:latin typeface="Arial"/>
              </a:defRPr>
            </a:pPr>
            <a:r>
              <a:t>OPTIMAL SURPLUS</a:t>
            </a:r>
          </a:p>
          <a:p>
            <a:pPr>
              <a:spcBef>
                <a:spcPts val="400"/>
              </a:spcBef>
              <a:defRPr sz="1200" b="1">
                <a:solidFill>
                  <a:srgbClr val="0F172A"/>
                </a:solidFill>
                <a:latin typeface="Consolas"/>
              </a:defRPr>
            </a:pPr>
            <a:r>
              <a:t>DOSA &gt; 14.0 Days</a:t>
            </a:r>
          </a:p>
          <a:p>
            <a:pPr>
              <a:spcBef>
                <a:spcPts val="800"/>
              </a:spcBef>
              <a:defRPr sz="1100">
                <a:solidFill>
                  <a:srgbClr val="334155"/>
                </a:solidFill>
                <a:latin typeface="Arial"/>
              </a:defRPr>
            </a:pPr>
            <a:r>
              <a:t>Verified excess inventory above required 7-day reserve buffer. Facility qualified as a transfer donor node.</a:t>
            </a:r>
          </a:p>
        </p:txBody>
      </p:sp>
      <p:sp>
        <p:nvSpPr>
          <p:cNvPr id="16" name="Rectangle 15"/>
          <p:cNvSpPr/>
          <p:nvPr/>
        </p:nvSpPr>
        <p:spPr>
          <a:xfrm>
            <a:off x="8933688" y="1904610"/>
            <a:ext cx="251460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070848" y="4663440"/>
            <a:ext cx="2240280" cy="36576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59669"/>
                </a:solidFill>
                <a:latin typeface="Consolas"/>
              </a:defRPr>
            </a:pPr>
            <a:r>
              <a:t>ACTION: QUALIFIED DONOR</a:t>
            </a:r>
          </a:p>
        </p:txBody>
      </p:sp>
      <p:sp>
        <p:nvSpPr>
          <p:cNvPr id="18" name="Rounded Rectangle 17"/>
          <p:cNvSpPr/>
          <p:nvPr/>
        </p:nvSpPr>
        <p:spPr>
          <a:xfrm>
            <a:off x="731520" y="5394960"/>
            <a:ext cx="10728655" cy="731520"/>
          </a:xfrm>
          <a:prstGeom prst="roundRect">
            <a:avLst/>
          </a:prstGeom>
          <a:solidFill>
            <a:srgbClr val="F0FDFA"/>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891B2"/>
                </a:solidFill>
                <a:latin typeface="Consolas"/>
              </a:defRPr>
            </a:pPr>
            <a:r>
              <a:t>CORE RESILIENCE METRIC:  DOSA = (Current Closing Stock + In-Transit Deliveries) / Predicted Daily Consumption</a:t>
            </a:r>
          </a:p>
          <a:p>
            <a:pPr algn="ctr">
              <a:spcBef>
                <a:spcPts val="200"/>
              </a:spcBef>
              <a:defRPr sz="1050">
                <a:solidFill>
                  <a:srgbClr val="64748B"/>
                </a:solidFill>
                <a:latin typeface="Arial"/>
              </a:defRPr>
            </a:pPr>
            <a:r>
              <a:t>100% deterministic calculation verified against the official National List of Essential Medicines (NLEM 2022).</a:t>
            </a:r>
          </a:p>
        </p:txBody>
      </p:sp>
      <p:sp>
        <p:nvSpPr>
          <p:cNvPr id="19" name="Rectangle 18"/>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05 of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06 / MATHEMATICAL OPTIMIZATION</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Pillar 3: Google OR-Tools Combinatorial Rebalancing</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Solving complex multi-facility supply redistribution under distance, capacity, and safety stock invariants.</a:t>
            </a:r>
          </a:p>
        </p:txBody>
      </p:sp>
      <p:sp>
        <p:nvSpPr>
          <p:cNvPr id="6" name="Rounded Rectangle 5"/>
          <p:cNvSpPr/>
          <p:nvPr/>
        </p:nvSpPr>
        <p:spPr>
          <a:xfrm>
            <a:off x="731520" y="1920240"/>
            <a:ext cx="5120640" cy="32918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59669"/>
                </a:solidFill>
                <a:latin typeface="Arial"/>
              </a:defRPr>
            </a:pPr>
            <a:r>
              <a:t>Objective Function &amp; Mathematical Goal</a:t>
            </a:r>
          </a:p>
          <a:p>
            <a:br/>
            <a:r>
              <a:t>• Minimizes aggregate vehicle transport distance across the road network.</a:t>
            </a:r>
            <a:br/>
            <a:r>
              <a:t>• Heavily penalizes any unfulfilled deficit at critical healthcare clinics.</a:t>
            </a:r>
            <a:br/>
            <a:r>
              <a:t>• Solved via Mixed-Integer Linear Programming (MILP) using Google OR-Tools CBC engine.</a:t>
            </a:r>
          </a:p>
        </p:txBody>
      </p:sp>
      <p:sp>
        <p:nvSpPr>
          <p:cNvPr id="7" name="Rectangle 6"/>
          <p:cNvSpPr/>
          <p:nvPr/>
        </p:nvSpPr>
        <p:spPr>
          <a:xfrm>
            <a:off x="1036015" y="3163824"/>
            <a:ext cx="4572000" cy="822960"/>
          </a:xfrm>
          <a:prstGeom prst="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9669"/>
                </a:solidFill>
                <a:latin typeface="Consolas"/>
              </a:defRPr>
            </a:pPr>
            <a:r>
              <a:t>min  ∑ Distance(i, j) * x_i,j + ∑ Penalty_j * UnmetDeficit_j</a:t>
            </a:r>
          </a:p>
        </p:txBody>
      </p:sp>
      <p:sp>
        <p:nvSpPr>
          <p:cNvPr id="8" name="Rounded Rectangle 7"/>
          <p:cNvSpPr/>
          <p:nvPr/>
        </p:nvSpPr>
        <p:spPr>
          <a:xfrm>
            <a:off x="6339535" y="1920240"/>
            <a:ext cx="5120640" cy="3291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D4ED8"/>
                </a:solidFill>
                <a:latin typeface="Arial"/>
              </a:defRPr>
            </a:pPr>
            <a:r>
              <a:rPr dirty="0"/>
              <a:t>Inviolable Operational Constraints</a:t>
            </a:r>
            <a:endParaRPr lang="en-US" dirty="0"/>
          </a:p>
          <a:p>
            <a:pPr algn="ctr">
              <a:defRPr sz="1600" b="1">
                <a:solidFill>
                  <a:srgbClr val="1D4ED8"/>
                </a:solidFill>
                <a:latin typeface="Arial"/>
              </a:defRPr>
            </a:pPr>
            <a:endParaRPr dirty="0"/>
          </a:p>
          <a:p>
            <a:pPr>
              <a:spcBef>
                <a:spcPts val="600"/>
              </a:spcBef>
              <a:defRPr sz="1150">
                <a:solidFill>
                  <a:srgbClr val="1E293B"/>
                </a:solidFill>
                <a:latin typeface="Arial"/>
              </a:defRPr>
            </a:pPr>
            <a:r>
              <a:rPr dirty="0"/>
              <a:t>1. Donor Safety Stock Invariant: </a:t>
            </a:r>
            <a:r>
              <a:rPr dirty="0" err="1"/>
              <a:t>Stock_donor</a:t>
            </a:r>
            <a:r>
              <a:rPr dirty="0"/>
              <a:t> - Transferred &gt;= </a:t>
            </a:r>
            <a:r>
              <a:rPr dirty="0" err="1"/>
              <a:t>SafetyStock_donor</a:t>
            </a:r>
            <a:br>
              <a:rPr dirty="0"/>
            </a:br>
            <a:r>
              <a:rPr dirty="0"/>
              <a:t>   (A donor facility is NEVER left in deficit!).</a:t>
            </a:r>
          </a:p>
          <a:p>
            <a:pPr>
              <a:spcBef>
                <a:spcPts val="600"/>
              </a:spcBef>
              <a:defRPr sz="1150">
                <a:solidFill>
                  <a:srgbClr val="1E293B"/>
                </a:solidFill>
                <a:latin typeface="Arial"/>
              </a:defRPr>
            </a:pPr>
            <a:r>
              <a:rPr dirty="0"/>
              <a:t>2. Maximum 50 km Road Transit Radius: Guarantees same-day delivery &amp; cold-chain validity.</a:t>
            </a:r>
          </a:p>
          <a:p>
            <a:pPr>
              <a:spcBef>
                <a:spcPts val="600"/>
              </a:spcBef>
              <a:defRPr sz="1150">
                <a:solidFill>
                  <a:srgbClr val="1E293B"/>
                </a:solidFill>
                <a:latin typeface="Arial"/>
              </a:defRPr>
            </a:pPr>
            <a:r>
              <a:rPr dirty="0"/>
              <a:t>3. Rural Vehicle Capacity Limits: Accounts for cargo bounds of two-wheelers &amp; ambulances.</a:t>
            </a:r>
          </a:p>
          <a:p>
            <a:pPr>
              <a:spcBef>
                <a:spcPts val="600"/>
              </a:spcBef>
              <a:defRPr sz="1150">
                <a:solidFill>
                  <a:srgbClr val="1E293B"/>
                </a:solidFill>
                <a:latin typeface="Arial"/>
              </a:defRPr>
            </a:pPr>
            <a:r>
              <a:rPr dirty="0"/>
              <a:t>4. Exact Integer Packaging: Transfers discrete medicine pack units without fractional splitting.</a:t>
            </a:r>
          </a:p>
        </p:txBody>
      </p:sp>
      <p:sp>
        <p:nvSpPr>
          <p:cNvPr id="9" name="Rounded Rectangle 8"/>
          <p:cNvSpPr/>
          <p:nvPr/>
        </p:nvSpPr>
        <p:spPr>
          <a:xfrm>
            <a:off x="731520" y="5394960"/>
            <a:ext cx="251460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a:solidFill>
                  <a:srgbClr val="64748B"/>
                </a:solidFill>
                <a:latin typeface="Arial"/>
              </a:defRPr>
            </a:pPr>
            <a:r>
              <a:t>Solver Engine</a:t>
            </a:r>
          </a:p>
          <a:p>
            <a:pPr algn="ctr">
              <a:spcBef>
                <a:spcPts val="200"/>
              </a:spcBef>
              <a:defRPr sz="1300" b="1">
                <a:solidFill>
                  <a:srgbClr val="1D4ED8"/>
                </a:solidFill>
                <a:latin typeface="Arial"/>
              </a:defRPr>
            </a:pPr>
            <a:r>
              <a:t>Google OR-Tools CBC</a:t>
            </a:r>
          </a:p>
        </p:txBody>
      </p:sp>
      <p:sp>
        <p:nvSpPr>
          <p:cNvPr id="10" name="Rounded Rectangle 9"/>
          <p:cNvSpPr/>
          <p:nvPr/>
        </p:nvSpPr>
        <p:spPr>
          <a:xfrm>
            <a:off x="3465576" y="5394960"/>
            <a:ext cx="251460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a:solidFill>
                  <a:srgbClr val="64748B"/>
                </a:solidFill>
                <a:latin typeface="Arial"/>
              </a:defRPr>
            </a:pPr>
            <a:r>
              <a:t>Solve Latency</a:t>
            </a:r>
          </a:p>
          <a:p>
            <a:pPr algn="ctr">
              <a:spcBef>
                <a:spcPts val="200"/>
              </a:spcBef>
              <a:defRPr sz="1300" b="1">
                <a:solidFill>
                  <a:srgbClr val="059669"/>
                </a:solidFill>
                <a:latin typeface="Arial"/>
              </a:defRPr>
            </a:pPr>
            <a:r>
              <a:t>&lt; 45 milliseconds</a:t>
            </a:r>
          </a:p>
        </p:txBody>
      </p:sp>
      <p:sp>
        <p:nvSpPr>
          <p:cNvPr id="11" name="Rounded Rectangle 10"/>
          <p:cNvSpPr/>
          <p:nvPr/>
        </p:nvSpPr>
        <p:spPr>
          <a:xfrm>
            <a:off x="6199632" y="5394960"/>
            <a:ext cx="251460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a:solidFill>
                  <a:srgbClr val="64748B"/>
                </a:solidFill>
                <a:latin typeface="Arial"/>
              </a:defRPr>
            </a:pPr>
            <a:r>
              <a:t>Deficit Resolution</a:t>
            </a:r>
          </a:p>
          <a:p>
            <a:pPr algn="ctr">
              <a:spcBef>
                <a:spcPts val="200"/>
              </a:spcBef>
              <a:defRPr sz="1300" b="1">
                <a:solidFill>
                  <a:srgbClr val="2563EB"/>
                </a:solidFill>
                <a:latin typeface="Arial"/>
              </a:defRPr>
            </a:pPr>
            <a:r>
              <a:t>98.4% Resolved</a:t>
            </a:r>
          </a:p>
        </p:txBody>
      </p:sp>
      <p:sp>
        <p:nvSpPr>
          <p:cNvPr id="12" name="Rounded Rectangle 11"/>
          <p:cNvSpPr/>
          <p:nvPr/>
        </p:nvSpPr>
        <p:spPr>
          <a:xfrm>
            <a:off x="8933688" y="5394960"/>
            <a:ext cx="251460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a:solidFill>
                  <a:srgbClr val="64748B"/>
                </a:solidFill>
                <a:latin typeface="Arial"/>
              </a:defRPr>
            </a:pPr>
            <a:r>
              <a:t>Donor Risk Incurred</a:t>
            </a:r>
          </a:p>
          <a:p>
            <a:pPr algn="ctr">
              <a:spcBef>
                <a:spcPts val="200"/>
              </a:spcBef>
              <a:defRPr sz="1300" b="1">
                <a:solidFill>
                  <a:srgbClr val="059669"/>
                </a:solidFill>
                <a:latin typeface="Arial"/>
              </a:defRPr>
            </a:pPr>
            <a:r>
              <a:t>0.00% (Strictly Zero)</a:t>
            </a:r>
          </a:p>
        </p:txBody>
      </p:sp>
      <p:sp>
        <p:nvSpPr>
          <p:cNvPr id="13" name="Rectangle 12"/>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06 of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07 / GENERATIVE AI</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Pillar 4: Grounded Gemini 2.5 Flash Operations Copilot</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Auditable, hallucination-free decision support with full tool-calling transparency.</a:t>
            </a:r>
          </a:p>
        </p:txBody>
      </p:sp>
      <p:sp>
        <p:nvSpPr>
          <p:cNvPr id="6" name="Rounded Rectangle 5"/>
          <p:cNvSpPr/>
          <p:nvPr/>
        </p:nvSpPr>
        <p:spPr>
          <a:xfrm>
            <a:off x="731520" y="1920240"/>
            <a:ext cx="5120640" cy="41148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7C3AED"/>
                </a:solidFill>
                <a:latin typeface="Arial"/>
              </a:defRPr>
            </a:pPr>
            <a:r>
              <a:rPr dirty="0"/>
              <a:t>Grounded Copilot Architecture</a:t>
            </a:r>
            <a:endParaRPr lang="en-US" dirty="0"/>
          </a:p>
          <a:p>
            <a:pPr algn="ctr">
              <a:defRPr sz="1600" b="1">
                <a:solidFill>
                  <a:srgbClr val="7C3AED"/>
                </a:solidFill>
                <a:latin typeface="Arial"/>
              </a:defRPr>
            </a:pPr>
            <a:endParaRPr lang="en-IN" dirty="0"/>
          </a:p>
          <a:p>
            <a:pPr algn="ctr">
              <a:defRPr sz="1600" b="1">
                <a:solidFill>
                  <a:srgbClr val="7C3AED"/>
                </a:solidFill>
                <a:latin typeface="Arial"/>
              </a:defRPr>
            </a:pPr>
            <a:endParaRPr dirty="0"/>
          </a:p>
          <a:p>
            <a:pPr>
              <a:spcBef>
                <a:spcPts val="1000"/>
              </a:spcBef>
              <a:defRPr sz="1200">
                <a:solidFill>
                  <a:srgbClr val="1E293B"/>
                </a:solidFill>
                <a:latin typeface="Arial"/>
              </a:defRPr>
            </a:pPr>
            <a:r>
              <a:rPr sz="1300" dirty="0"/>
              <a:t>• 10+ Deterministic Tool Bindings: Gemini never guesses inventory numbers. Autonomously calls </a:t>
            </a:r>
            <a:r>
              <a:rPr sz="1300" dirty="0" err="1"/>
              <a:t>get_facility_status</a:t>
            </a:r>
            <a:r>
              <a:rPr sz="1300" dirty="0"/>
              <a:t>(), </a:t>
            </a:r>
            <a:r>
              <a:rPr sz="1300" dirty="0" err="1"/>
              <a:t>calculate_stock_risk</a:t>
            </a:r>
            <a:r>
              <a:rPr sz="1300" dirty="0"/>
              <a:t>(), and </a:t>
            </a:r>
            <a:r>
              <a:rPr sz="1300" dirty="0" err="1"/>
              <a:t>run_redistribution_solver</a:t>
            </a:r>
            <a:r>
              <a:rPr sz="1300" dirty="0"/>
              <a:t>().</a:t>
            </a:r>
          </a:p>
          <a:p>
            <a:pPr>
              <a:spcBef>
                <a:spcPts val="1000"/>
              </a:spcBef>
              <a:defRPr sz="1200">
                <a:solidFill>
                  <a:srgbClr val="1E293B"/>
                </a:solidFill>
                <a:latin typeface="Arial"/>
              </a:defRPr>
            </a:pPr>
            <a:r>
              <a:rPr sz="1300" dirty="0"/>
              <a:t>• 1-Click Evidence Drawer: Displays raw database queries, timestamps, and tool logs for complete legal &amp; medical auditability.</a:t>
            </a:r>
          </a:p>
          <a:p>
            <a:pPr>
              <a:spcBef>
                <a:spcPts val="1000"/>
              </a:spcBef>
              <a:defRPr sz="1200">
                <a:solidFill>
                  <a:srgbClr val="1E293B"/>
                </a:solidFill>
                <a:latin typeface="Arial"/>
              </a:defRPr>
            </a:pPr>
            <a:r>
              <a:rPr sz="1300" dirty="0"/>
              <a:t>• Bilingual Voice &amp; Text: Natural Hindi and English conversation for rural health workers (e.g. '</a:t>
            </a:r>
            <a:r>
              <a:rPr sz="1300" dirty="0" err="1"/>
              <a:t>कौन</a:t>
            </a:r>
            <a:r>
              <a:rPr sz="1300" dirty="0"/>
              <a:t> </a:t>
            </a:r>
            <a:r>
              <a:rPr sz="1300" dirty="0" err="1"/>
              <a:t>सा</a:t>
            </a:r>
            <a:r>
              <a:rPr sz="1300" dirty="0"/>
              <a:t> </a:t>
            </a:r>
            <a:r>
              <a:rPr sz="1300" dirty="0" err="1"/>
              <a:t>केंद्र</a:t>
            </a:r>
            <a:r>
              <a:rPr sz="1300" dirty="0"/>
              <a:t> </a:t>
            </a:r>
            <a:r>
              <a:rPr sz="1300" dirty="0" err="1"/>
              <a:t>पैरासिटामोल</a:t>
            </a:r>
            <a:r>
              <a:rPr sz="1300" dirty="0"/>
              <a:t> </a:t>
            </a:r>
            <a:r>
              <a:rPr sz="1300" dirty="0" err="1"/>
              <a:t>भेज</a:t>
            </a:r>
            <a:r>
              <a:rPr sz="1300" dirty="0"/>
              <a:t> </a:t>
            </a:r>
            <a:r>
              <a:rPr sz="1300" dirty="0" err="1"/>
              <a:t>सकता</a:t>
            </a:r>
            <a:r>
              <a:rPr sz="1300" dirty="0"/>
              <a:t> </a:t>
            </a:r>
            <a:r>
              <a:rPr sz="1300" dirty="0" err="1"/>
              <a:t>है</a:t>
            </a:r>
            <a:r>
              <a:rPr sz="1300" dirty="0"/>
              <a:t>?').</a:t>
            </a:r>
          </a:p>
          <a:p>
            <a:pPr>
              <a:spcBef>
                <a:spcPts val="1000"/>
              </a:spcBef>
              <a:defRPr sz="1200">
                <a:solidFill>
                  <a:srgbClr val="1E293B"/>
                </a:solidFill>
                <a:latin typeface="Arial"/>
              </a:defRPr>
            </a:pPr>
            <a:r>
              <a:rPr sz="1300" dirty="0"/>
              <a:t>• What-If Policy Sandbox: Enables health directors to simulate demand spikes (+30%) and road delays before approving actual logistics orders.</a:t>
            </a:r>
          </a:p>
        </p:txBody>
      </p:sp>
      <p:sp>
        <p:nvSpPr>
          <p:cNvPr id="7" name="Rounded Rectangle 6"/>
          <p:cNvSpPr/>
          <p:nvPr/>
        </p:nvSpPr>
        <p:spPr>
          <a:xfrm>
            <a:off x="6339535" y="1920240"/>
            <a:ext cx="5120640" cy="41148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D4ED8"/>
                </a:solidFill>
                <a:latin typeface="Arial"/>
              </a:defRPr>
            </a:pPr>
            <a:r>
              <a:t>💬 Swasthya Copilot • Gemini 2.5 Flash</a:t>
            </a:r>
          </a:p>
        </p:txBody>
      </p:sp>
      <p:sp>
        <p:nvSpPr>
          <p:cNvPr id="8" name="Rounded Rectangle 7"/>
          <p:cNvSpPr/>
          <p:nvPr/>
        </p:nvSpPr>
        <p:spPr>
          <a:xfrm>
            <a:off x="6613855" y="2249424"/>
            <a:ext cx="4572000" cy="7315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FFFFFF"/>
                </a:solidFill>
                <a:latin typeface="Arial"/>
              </a:defRPr>
            </a:pPr>
            <a:r>
              <a:rPr dirty="0"/>
              <a:t>Why is PHC </a:t>
            </a:r>
            <a:r>
              <a:rPr dirty="0" err="1"/>
              <a:t>Bakhtiyarpur</a:t>
            </a:r>
            <a:r>
              <a:rPr dirty="0"/>
              <a:t> flagged at CRITICAL risk for Paracetamol?</a:t>
            </a:r>
          </a:p>
        </p:txBody>
      </p:sp>
      <p:sp>
        <p:nvSpPr>
          <p:cNvPr id="9" name="Rounded Rectangle 8"/>
          <p:cNvSpPr/>
          <p:nvPr/>
        </p:nvSpPr>
        <p:spPr>
          <a:xfrm>
            <a:off x="6613855" y="3337560"/>
            <a:ext cx="457200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a:solidFill>
                  <a:srgbClr val="1E293B"/>
                </a:solidFill>
                <a:latin typeface="Arial"/>
              </a:defRPr>
            </a:pPr>
            <a:r>
              <a:rPr dirty="0"/>
              <a:t>PHC </a:t>
            </a:r>
            <a:r>
              <a:rPr dirty="0" err="1"/>
              <a:t>Bakhtiyarpur</a:t>
            </a:r>
            <a:r>
              <a:rPr dirty="0"/>
              <a:t> (PHC-BR-PAT-001) current stock is 320 packs against a predicted daily consumption of 169 packs/day (DOSA = 1.89 days). Complete stockout projected in 45 hours.</a:t>
            </a:r>
          </a:p>
          <a:p>
            <a:pPr>
              <a:spcBef>
                <a:spcPts val="800"/>
              </a:spcBef>
              <a:defRPr sz="1000" b="1">
                <a:solidFill>
                  <a:srgbClr val="059669"/>
                </a:solidFill>
                <a:latin typeface="Consolas"/>
              </a:defRPr>
            </a:pPr>
            <a:r>
              <a:rPr sz="1100" dirty="0"/>
              <a:t>🛡️ Verified Evidence: </a:t>
            </a:r>
            <a:r>
              <a:rPr sz="1100" dirty="0" err="1"/>
              <a:t>inventory_telemetry</a:t>
            </a:r>
            <a:r>
              <a:rPr sz="1100" dirty="0"/>
              <a:t> • risk_engine_v1</a:t>
            </a:r>
          </a:p>
          <a:p>
            <a:pPr>
              <a:spcBef>
                <a:spcPts val="800"/>
              </a:spcBef>
              <a:defRPr sz="1150" b="1">
                <a:solidFill>
                  <a:srgbClr val="1D4ED8"/>
                </a:solidFill>
                <a:latin typeface="Arial"/>
              </a:defRPr>
            </a:pPr>
            <a:r>
              <a:rPr dirty="0"/>
              <a:t>Recommendation: Google OR-Tools recommends transferring 600 units from PHC </a:t>
            </a:r>
            <a:r>
              <a:rPr dirty="0" err="1"/>
              <a:t>Danapur</a:t>
            </a:r>
            <a:r>
              <a:rPr dirty="0"/>
              <a:t> (18.4 km away), which holds 3,500 surplus packs. Click 'Approve Order' to dispatch.</a:t>
            </a:r>
          </a:p>
        </p:txBody>
      </p:sp>
      <p:sp>
        <p:nvSpPr>
          <p:cNvPr id="10" name="Rectangle 9"/>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07 of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08 / LIVE DEMONSTRATION</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Demonstrated Live: Monsoon Flood Outbreak &amp; Auto-Rebalancing</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From sudden disaster shock to optimal mathematical resolution in under 2 hours.</a:t>
            </a:r>
          </a:p>
        </p:txBody>
      </p:sp>
      <p:sp>
        <p:nvSpPr>
          <p:cNvPr id="6" name="Rounded Rectangle 5"/>
          <p:cNvSpPr/>
          <p:nvPr/>
        </p:nvSpPr>
        <p:spPr>
          <a:xfrm>
            <a:off x="731520" y="1920240"/>
            <a:ext cx="5120640" cy="411480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600" b="1">
                <a:solidFill>
                  <a:srgbClr val="DC2626"/>
                </a:solidFill>
                <a:latin typeface="Arial"/>
              </a:defRPr>
            </a:pPr>
            <a:r>
              <a:rPr dirty="0"/>
              <a:t>1. THE CRISIS SHOCK (PHC </a:t>
            </a:r>
            <a:r>
              <a:rPr dirty="0" err="1"/>
              <a:t>Bakhtiyarpur</a:t>
            </a:r>
            <a:r>
              <a:rPr dirty="0"/>
              <a:t>)</a:t>
            </a:r>
            <a:endParaRPr lang="en-US" dirty="0"/>
          </a:p>
          <a:p>
            <a:pPr algn="ctr">
              <a:spcBef>
                <a:spcPts val="800"/>
              </a:spcBef>
              <a:defRPr sz="1600" b="1">
                <a:solidFill>
                  <a:srgbClr val="DC2626"/>
                </a:solidFill>
                <a:latin typeface="Arial"/>
              </a:defRPr>
            </a:pPr>
            <a:endParaRPr lang="en-IN" dirty="0"/>
          </a:p>
          <a:p>
            <a:pPr algn="ctr">
              <a:spcBef>
                <a:spcPts val="800"/>
              </a:spcBef>
              <a:defRPr sz="1600" b="1">
                <a:solidFill>
                  <a:srgbClr val="DC2626"/>
                </a:solidFill>
                <a:latin typeface="Arial"/>
              </a:defRPr>
            </a:pPr>
            <a:endParaRPr dirty="0"/>
          </a:p>
          <a:p>
            <a:pPr>
              <a:spcBef>
                <a:spcPts val="800"/>
              </a:spcBef>
              <a:defRPr sz="1200">
                <a:solidFill>
                  <a:srgbClr val="1E293B"/>
                </a:solidFill>
                <a:latin typeface="Arial"/>
              </a:defRPr>
            </a:pPr>
            <a:r>
              <a:rPr dirty="0"/>
              <a:t>• Severe Monsoon Flood in Patna triggers sudden outbreak of acute fever and diarrhea.</a:t>
            </a:r>
          </a:p>
          <a:p>
            <a:pPr>
              <a:spcBef>
                <a:spcPts val="800"/>
              </a:spcBef>
              <a:defRPr sz="1200">
                <a:solidFill>
                  <a:srgbClr val="1E293B"/>
                </a:solidFill>
                <a:latin typeface="Arial"/>
              </a:defRPr>
            </a:pPr>
            <a:r>
              <a:rPr dirty="0"/>
              <a:t>• Outpatient OPD footfall quadruples (+320%). Daily demand jumps from 169 to 710 packs/day.</a:t>
            </a:r>
          </a:p>
          <a:p>
            <a:pPr>
              <a:spcBef>
                <a:spcPts val="800"/>
              </a:spcBef>
              <a:defRPr sz="1200">
                <a:solidFill>
                  <a:srgbClr val="1E293B"/>
                </a:solidFill>
                <a:latin typeface="Arial"/>
              </a:defRPr>
            </a:pPr>
            <a:r>
              <a:rPr dirty="0"/>
              <a:t>• Days of Stock Available (DOSA) drops from 7.68 days down to 1.83 Days (CRITICAL RED).</a:t>
            </a:r>
          </a:p>
          <a:p>
            <a:pPr>
              <a:spcBef>
                <a:spcPts val="800"/>
              </a:spcBef>
              <a:defRPr sz="1200">
                <a:solidFill>
                  <a:srgbClr val="1E293B"/>
                </a:solidFill>
                <a:latin typeface="Arial"/>
              </a:defRPr>
            </a:pPr>
            <a:r>
              <a:rPr dirty="0"/>
              <a:t>• Complete Stockout Imminent: Shelves will empty in 44 hours without immediate replenishment.</a:t>
            </a:r>
          </a:p>
          <a:p>
            <a:pPr>
              <a:spcBef>
                <a:spcPts val="800"/>
              </a:spcBef>
              <a:defRPr sz="1200">
                <a:solidFill>
                  <a:srgbClr val="1E293B"/>
                </a:solidFill>
                <a:latin typeface="Arial"/>
              </a:defRPr>
            </a:pPr>
            <a:r>
              <a:rPr dirty="0"/>
              <a:t>• Traditional Response: Bureaucratic requisition paperwork takes 5 to 7 days—guaranteeing stockout.</a:t>
            </a:r>
          </a:p>
        </p:txBody>
      </p:sp>
      <p:sp>
        <p:nvSpPr>
          <p:cNvPr id="7" name="Rectangle 6"/>
          <p:cNvSpPr/>
          <p:nvPr/>
        </p:nvSpPr>
        <p:spPr>
          <a:xfrm>
            <a:off x="731520" y="1904610"/>
            <a:ext cx="512064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39535" y="1920240"/>
            <a:ext cx="512064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600" b="1">
                <a:solidFill>
                  <a:srgbClr val="059669"/>
                </a:solidFill>
                <a:latin typeface="Arial"/>
              </a:defRPr>
            </a:pPr>
            <a:r>
              <a:rPr dirty="0"/>
              <a:t>2. SWASTHYAGRID RESOLUTION (38 </a:t>
            </a:r>
            <a:r>
              <a:rPr dirty="0" err="1"/>
              <a:t>ms</a:t>
            </a:r>
            <a:r>
              <a:rPr dirty="0"/>
              <a:t>)</a:t>
            </a:r>
            <a:endParaRPr lang="en-US" dirty="0"/>
          </a:p>
          <a:p>
            <a:pPr algn="ctr">
              <a:spcBef>
                <a:spcPts val="800"/>
              </a:spcBef>
              <a:defRPr sz="1600" b="1">
                <a:solidFill>
                  <a:srgbClr val="059669"/>
                </a:solidFill>
                <a:latin typeface="Arial"/>
              </a:defRPr>
            </a:pPr>
            <a:endParaRPr lang="en-IN" dirty="0"/>
          </a:p>
          <a:p>
            <a:pPr algn="ctr">
              <a:spcBef>
                <a:spcPts val="800"/>
              </a:spcBef>
              <a:defRPr sz="1600" b="1">
                <a:solidFill>
                  <a:srgbClr val="059669"/>
                </a:solidFill>
                <a:latin typeface="Arial"/>
              </a:defRPr>
            </a:pPr>
            <a:endParaRPr dirty="0"/>
          </a:p>
          <a:p>
            <a:pPr>
              <a:spcBef>
                <a:spcPts val="800"/>
              </a:spcBef>
              <a:defRPr sz="1200">
                <a:solidFill>
                  <a:srgbClr val="1E293B"/>
                </a:solidFill>
                <a:latin typeface="Arial"/>
              </a:defRPr>
            </a:pPr>
            <a:r>
              <a:rPr dirty="0"/>
              <a:t>• Autonomous Detection: Risk Engine automatically raises CRITICAL alert 72 hours early.</a:t>
            </a:r>
          </a:p>
          <a:p>
            <a:pPr>
              <a:spcBef>
                <a:spcPts val="800"/>
              </a:spcBef>
              <a:defRPr sz="1200">
                <a:solidFill>
                  <a:srgbClr val="1E293B"/>
                </a:solidFill>
                <a:latin typeface="Arial"/>
              </a:defRPr>
            </a:pPr>
            <a:r>
              <a:rPr dirty="0"/>
              <a:t>• Google OR-Tools MILP Solver: Computes optimal multi-facility transfer matrix in 38 milliseconds.</a:t>
            </a:r>
          </a:p>
          <a:p>
            <a:pPr>
              <a:spcBef>
                <a:spcPts val="800"/>
              </a:spcBef>
              <a:defRPr sz="1200">
                <a:solidFill>
                  <a:srgbClr val="1E293B"/>
                </a:solidFill>
                <a:latin typeface="Arial"/>
              </a:defRPr>
            </a:pPr>
            <a:r>
              <a:rPr dirty="0"/>
              <a:t>• Optimal Donor Paired: PHC </a:t>
            </a:r>
            <a:r>
              <a:rPr dirty="0" err="1"/>
              <a:t>Danapur</a:t>
            </a:r>
            <a:r>
              <a:rPr dirty="0"/>
              <a:t> (18.4 km away via NH31) has 3,500 packs of surplus inventory.</a:t>
            </a:r>
          </a:p>
          <a:p>
            <a:pPr>
              <a:spcBef>
                <a:spcPts val="800"/>
              </a:spcBef>
              <a:defRPr sz="1200">
                <a:solidFill>
                  <a:srgbClr val="1E293B"/>
                </a:solidFill>
                <a:latin typeface="Arial"/>
              </a:defRPr>
            </a:pPr>
            <a:r>
              <a:rPr dirty="0"/>
              <a:t>• Safety Invariant Respected: </a:t>
            </a:r>
            <a:r>
              <a:rPr dirty="0" err="1"/>
              <a:t>Danapur</a:t>
            </a:r>
            <a:r>
              <a:rPr dirty="0"/>
              <a:t> retains 2,900 packs (&gt; 7-day reserve buffer maintained).</a:t>
            </a:r>
          </a:p>
          <a:p>
            <a:pPr>
              <a:spcBef>
                <a:spcPts val="800"/>
              </a:spcBef>
              <a:defRPr sz="1200">
                <a:solidFill>
                  <a:srgbClr val="1E293B"/>
                </a:solidFill>
                <a:latin typeface="Arial"/>
              </a:defRPr>
            </a:pPr>
            <a:r>
              <a:rPr dirty="0"/>
              <a:t>• Outcome: 600 packs dispatched immediately. </a:t>
            </a:r>
            <a:r>
              <a:rPr dirty="0" err="1"/>
              <a:t>Bakhtiyarpur</a:t>
            </a:r>
            <a:r>
              <a:rPr dirty="0"/>
              <a:t> DOSA restored to 8.21 Days (Zero Deficit!).</a:t>
            </a:r>
          </a:p>
        </p:txBody>
      </p:sp>
      <p:sp>
        <p:nvSpPr>
          <p:cNvPr id="9" name="Rectangle 8"/>
          <p:cNvSpPr/>
          <p:nvPr/>
        </p:nvSpPr>
        <p:spPr>
          <a:xfrm>
            <a:off x="6339535" y="1904610"/>
            <a:ext cx="512064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08 of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09 / TECHNICAL ARCHITECTURE</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Enterprise Google Cloud Infrastructure in Region asia-south1</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Serverless, scalable, and grounded in official public government healthcare data.</a:t>
            </a:r>
          </a:p>
        </p:txBody>
      </p:sp>
      <p:sp>
        <p:nvSpPr>
          <p:cNvPr id="6" name="Rounded Rectangle 5"/>
          <p:cNvSpPr/>
          <p:nvPr/>
        </p:nvSpPr>
        <p:spPr>
          <a:xfrm>
            <a:off x="731520" y="1920240"/>
            <a:ext cx="3383280" cy="4114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500" b="1">
                <a:solidFill>
                  <a:srgbClr val="2563EB"/>
                </a:solidFill>
                <a:latin typeface="Arial"/>
              </a:defRPr>
            </a:pPr>
            <a:r>
              <a:rPr dirty="0"/>
              <a:t>CLIENT &amp; GATEWAY</a:t>
            </a:r>
            <a:endParaRPr lang="en-US" dirty="0"/>
          </a:p>
          <a:p>
            <a:pPr algn="ctr">
              <a:spcBef>
                <a:spcPts val="1200"/>
              </a:spcBef>
              <a:defRPr sz="1500" b="1">
                <a:solidFill>
                  <a:srgbClr val="2563EB"/>
                </a:solidFill>
                <a:latin typeface="Arial"/>
              </a:defRPr>
            </a:pPr>
            <a:endParaRPr dirty="0"/>
          </a:p>
          <a:p>
            <a:pPr>
              <a:spcBef>
                <a:spcPts val="1400"/>
              </a:spcBef>
              <a:defRPr sz="1200">
                <a:solidFill>
                  <a:srgbClr val="1E293B"/>
                </a:solidFill>
                <a:latin typeface="Arial"/>
              </a:defRPr>
            </a:pPr>
            <a:r>
              <a:rPr dirty="0"/>
              <a:t>•  React 19 + TypeScript + Leaflet GIS</a:t>
            </a:r>
          </a:p>
          <a:p>
            <a:pPr>
              <a:spcBef>
                <a:spcPts val="1400"/>
              </a:spcBef>
              <a:defRPr sz="1200">
                <a:solidFill>
                  <a:srgbClr val="1E293B"/>
                </a:solidFill>
                <a:latin typeface="Arial"/>
              </a:defRPr>
            </a:pPr>
            <a:r>
              <a:rPr dirty="0"/>
              <a:t>•  </a:t>
            </a:r>
            <a:r>
              <a:rPr dirty="0" err="1"/>
              <a:t>FastAPI</a:t>
            </a:r>
            <a:r>
              <a:rPr dirty="0"/>
              <a:t> Gateway on Google Cloud Run</a:t>
            </a:r>
          </a:p>
          <a:p>
            <a:pPr>
              <a:spcBef>
                <a:spcPts val="1400"/>
              </a:spcBef>
              <a:defRPr sz="1200">
                <a:solidFill>
                  <a:srgbClr val="1E293B"/>
                </a:solidFill>
                <a:latin typeface="Arial"/>
              </a:defRPr>
            </a:pPr>
            <a:r>
              <a:rPr dirty="0"/>
              <a:t>•  Role-Based Access Control (RBAC)</a:t>
            </a:r>
          </a:p>
          <a:p>
            <a:pPr>
              <a:spcBef>
                <a:spcPts val="1400"/>
              </a:spcBef>
              <a:defRPr sz="1200">
                <a:solidFill>
                  <a:srgbClr val="1E293B"/>
                </a:solidFill>
                <a:latin typeface="Arial"/>
              </a:defRPr>
            </a:pPr>
            <a:r>
              <a:rPr dirty="0"/>
              <a:t>•  Stateless, auto-scaling container</a:t>
            </a:r>
          </a:p>
        </p:txBody>
      </p:sp>
      <p:sp>
        <p:nvSpPr>
          <p:cNvPr id="7" name="Rectangle 6"/>
          <p:cNvSpPr/>
          <p:nvPr/>
        </p:nvSpPr>
        <p:spPr>
          <a:xfrm>
            <a:off x="731520" y="1904610"/>
            <a:ext cx="33832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0" y="1920240"/>
            <a:ext cx="3383280" cy="41148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500" b="1">
                <a:solidFill>
                  <a:srgbClr val="7C3AED"/>
                </a:solidFill>
                <a:latin typeface="Arial"/>
              </a:defRPr>
            </a:pPr>
            <a:r>
              <a:rPr dirty="0"/>
              <a:t>AI &amp; OPTIMIZATION</a:t>
            </a:r>
            <a:endParaRPr lang="en-US" dirty="0"/>
          </a:p>
          <a:p>
            <a:pPr algn="ctr">
              <a:spcBef>
                <a:spcPts val="1200"/>
              </a:spcBef>
              <a:defRPr sz="1500" b="1">
                <a:solidFill>
                  <a:srgbClr val="7C3AED"/>
                </a:solidFill>
                <a:latin typeface="Arial"/>
              </a:defRPr>
            </a:pPr>
            <a:endParaRPr dirty="0"/>
          </a:p>
          <a:p>
            <a:pPr>
              <a:spcBef>
                <a:spcPts val="1400"/>
              </a:spcBef>
              <a:defRPr sz="1200">
                <a:solidFill>
                  <a:srgbClr val="1E293B"/>
                </a:solidFill>
                <a:latin typeface="Arial"/>
              </a:defRPr>
            </a:pPr>
            <a:r>
              <a:rPr dirty="0"/>
              <a:t>•  Vertex AI / Gemini 2.5 Flash Copilot</a:t>
            </a:r>
          </a:p>
          <a:p>
            <a:pPr>
              <a:spcBef>
                <a:spcPts val="1400"/>
              </a:spcBef>
              <a:defRPr sz="1200">
                <a:solidFill>
                  <a:srgbClr val="1E293B"/>
                </a:solidFill>
                <a:latin typeface="Arial"/>
              </a:defRPr>
            </a:pPr>
            <a:r>
              <a:rPr dirty="0"/>
              <a:t>•  Google OR-Tools (MILP Rebalancing)</a:t>
            </a:r>
          </a:p>
          <a:p>
            <a:pPr>
              <a:spcBef>
                <a:spcPts val="1400"/>
              </a:spcBef>
              <a:defRPr sz="1200">
                <a:solidFill>
                  <a:srgbClr val="1E293B"/>
                </a:solidFill>
                <a:latin typeface="Arial"/>
              </a:defRPr>
            </a:pPr>
            <a:r>
              <a:rPr dirty="0"/>
              <a:t>•  Ridge / </a:t>
            </a:r>
            <a:r>
              <a:rPr dirty="0" err="1"/>
              <a:t>LightGBM</a:t>
            </a:r>
            <a:r>
              <a:rPr dirty="0"/>
              <a:t> Predictive Regressors</a:t>
            </a:r>
          </a:p>
          <a:p>
            <a:pPr>
              <a:spcBef>
                <a:spcPts val="1400"/>
              </a:spcBef>
              <a:defRPr sz="1200">
                <a:solidFill>
                  <a:srgbClr val="1E293B"/>
                </a:solidFill>
                <a:latin typeface="Arial"/>
              </a:defRPr>
            </a:pPr>
            <a:r>
              <a:rPr dirty="0"/>
              <a:t>•  Quantile p10/p50/p90 intervals</a:t>
            </a:r>
          </a:p>
        </p:txBody>
      </p:sp>
      <p:sp>
        <p:nvSpPr>
          <p:cNvPr id="9" name="Rectangle 8"/>
          <p:cNvSpPr/>
          <p:nvPr/>
        </p:nvSpPr>
        <p:spPr>
          <a:xfrm>
            <a:off x="4389120" y="1904610"/>
            <a:ext cx="33832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20" y="1920240"/>
            <a:ext cx="338328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200"/>
              </a:spcBef>
              <a:defRPr sz="1500" b="1">
                <a:solidFill>
                  <a:srgbClr val="059669"/>
                </a:solidFill>
                <a:latin typeface="Arial"/>
              </a:defRPr>
            </a:pPr>
            <a:r>
              <a:rPr dirty="0"/>
              <a:t>DATA WAREHOUSE &amp; PROVENANCE</a:t>
            </a:r>
            <a:endParaRPr lang="en-US" dirty="0"/>
          </a:p>
          <a:p>
            <a:pPr algn="ctr">
              <a:spcBef>
                <a:spcPts val="1200"/>
              </a:spcBef>
              <a:defRPr sz="1500" b="1">
                <a:solidFill>
                  <a:srgbClr val="059669"/>
                </a:solidFill>
                <a:latin typeface="Arial"/>
              </a:defRPr>
            </a:pPr>
            <a:endParaRPr dirty="0"/>
          </a:p>
          <a:p>
            <a:pPr>
              <a:spcBef>
                <a:spcPts val="1400"/>
              </a:spcBef>
              <a:defRPr sz="1200">
                <a:solidFill>
                  <a:srgbClr val="1E293B"/>
                </a:solidFill>
                <a:latin typeface="Arial"/>
              </a:defRPr>
            </a:pPr>
            <a:r>
              <a:rPr dirty="0"/>
              <a:t>•  Google </a:t>
            </a:r>
            <a:r>
              <a:rPr dirty="0" err="1"/>
              <a:t>BigQuery</a:t>
            </a:r>
            <a:r>
              <a:rPr dirty="0"/>
              <a:t> (</a:t>
            </a:r>
            <a:r>
              <a:rPr dirty="0" err="1"/>
              <a:t>arcadeaiagent.swasthyagrid</a:t>
            </a:r>
            <a:r>
              <a:rPr dirty="0"/>
              <a:t>)</a:t>
            </a:r>
          </a:p>
          <a:p>
            <a:pPr>
              <a:spcBef>
                <a:spcPts val="1400"/>
              </a:spcBef>
              <a:defRPr sz="1200">
                <a:solidFill>
                  <a:srgbClr val="1E293B"/>
                </a:solidFill>
                <a:latin typeface="Arial"/>
              </a:defRPr>
            </a:pPr>
            <a:r>
              <a:rPr dirty="0"/>
              <a:t>•  </a:t>
            </a:r>
            <a:r>
              <a:rPr dirty="0" err="1"/>
              <a:t>MoHFW</a:t>
            </a:r>
            <a:r>
              <a:rPr dirty="0"/>
              <a:t> Rural Health Statistics (RHS 2022)</a:t>
            </a:r>
          </a:p>
          <a:p>
            <a:pPr>
              <a:spcBef>
                <a:spcPts val="1400"/>
              </a:spcBef>
              <a:defRPr sz="1200">
                <a:solidFill>
                  <a:srgbClr val="1E293B"/>
                </a:solidFill>
                <a:latin typeface="Arial"/>
              </a:defRPr>
            </a:pPr>
            <a:r>
              <a:rPr dirty="0"/>
              <a:t>•  Health Management Info System (HMIS)</a:t>
            </a:r>
          </a:p>
          <a:p>
            <a:pPr>
              <a:spcBef>
                <a:spcPts val="1400"/>
              </a:spcBef>
              <a:defRPr sz="1200">
                <a:solidFill>
                  <a:srgbClr val="1E293B"/>
                </a:solidFill>
                <a:latin typeface="Arial"/>
              </a:defRPr>
            </a:pPr>
            <a:r>
              <a:rPr dirty="0"/>
              <a:t>•  National List of Essential Medicines (NLEM)</a:t>
            </a:r>
          </a:p>
        </p:txBody>
      </p:sp>
      <p:sp>
        <p:nvSpPr>
          <p:cNvPr id="11" name="Rectangle 10"/>
          <p:cNvSpPr/>
          <p:nvPr/>
        </p:nvSpPr>
        <p:spPr>
          <a:xfrm>
            <a:off x="8046720" y="1904610"/>
            <a:ext cx="338328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09 of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10 / MEASURABLE IMPACT</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Quantitative Operational Results &amp; Benchmarks</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Demonstrated resilience gains across simulated disaster surges and national networks.</a:t>
            </a:r>
          </a:p>
        </p:txBody>
      </p:sp>
      <p:sp>
        <p:nvSpPr>
          <p:cNvPr id="6" name="Rounded Rectangle 5"/>
          <p:cNvSpPr/>
          <p:nvPr/>
        </p:nvSpPr>
        <p:spPr>
          <a:xfrm>
            <a:off x="731520" y="1920240"/>
            <a:ext cx="2514600" cy="21031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3600" b="1">
                <a:solidFill>
                  <a:srgbClr val="059669"/>
                </a:solidFill>
                <a:latin typeface="Arial"/>
              </a:defRPr>
            </a:pPr>
            <a:r>
              <a:rPr dirty="0"/>
              <a:t>89%</a:t>
            </a:r>
          </a:p>
          <a:p>
            <a:pPr algn="ctr">
              <a:spcBef>
                <a:spcPts val="400"/>
              </a:spcBef>
              <a:defRPr sz="1200" b="1">
                <a:solidFill>
                  <a:srgbClr val="0F172A"/>
                </a:solidFill>
                <a:latin typeface="Arial"/>
              </a:defRPr>
            </a:pPr>
            <a:r>
              <a:rPr dirty="0"/>
              <a:t>Reduction in Stockout Hours</a:t>
            </a:r>
          </a:p>
          <a:p>
            <a:pPr algn="ctr">
              <a:spcBef>
                <a:spcPts val="200"/>
              </a:spcBef>
              <a:defRPr sz="1050">
                <a:solidFill>
                  <a:srgbClr val="64748B"/>
                </a:solidFill>
                <a:latin typeface="Arial"/>
              </a:defRPr>
            </a:pPr>
            <a:r>
              <a:rPr dirty="0"/>
              <a:t>Shortage window dropped from 68h to &lt; 7.5h.</a:t>
            </a:r>
          </a:p>
        </p:txBody>
      </p:sp>
      <p:sp>
        <p:nvSpPr>
          <p:cNvPr id="7" name="Rounded Rectangle 6"/>
          <p:cNvSpPr/>
          <p:nvPr/>
        </p:nvSpPr>
        <p:spPr>
          <a:xfrm>
            <a:off x="3465576" y="1920240"/>
            <a:ext cx="2514600" cy="210312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3600" b="1">
                <a:solidFill>
                  <a:srgbClr val="1D4ED8"/>
                </a:solidFill>
                <a:latin typeface="Arial"/>
              </a:defRPr>
            </a:pPr>
            <a:r>
              <a:t>4.2x</a:t>
            </a:r>
          </a:p>
          <a:p>
            <a:pPr algn="ctr">
              <a:spcBef>
                <a:spcPts val="400"/>
              </a:spcBef>
              <a:defRPr sz="1200" b="1">
                <a:solidFill>
                  <a:srgbClr val="0F172A"/>
                </a:solidFill>
                <a:latin typeface="Arial"/>
              </a:defRPr>
            </a:pPr>
            <a:r>
              <a:t>Faster Emergency Redistribution</a:t>
            </a:r>
          </a:p>
          <a:p>
            <a:pPr algn="ctr">
              <a:spcBef>
                <a:spcPts val="200"/>
              </a:spcBef>
              <a:defRPr sz="1050">
                <a:solidFill>
                  <a:srgbClr val="64748B"/>
                </a:solidFill>
                <a:latin typeface="Arial"/>
              </a:defRPr>
            </a:pPr>
            <a:r>
              <a:t>Reduced from 4-6 days to &lt; 2 hours.</a:t>
            </a:r>
          </a:p>
        </p:txBody>
      </p:sp>
      <p:sp>
        <p:nvSpPr>
          <p:cNvPr id="8" name="Rounded Rectangle 7"/>
          <p:cNvSpPr/>
          <p:nvPr/>
        </p:nvSpPr>
        <p:spPr>
          <a:xfrm>
            <a:off x="6199632" y="1920240"/>
            <a:ext cx="2514600" cy="21031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3600" b="1">
                <a:solidFill>
                  <a:srgbClr val="7C3AED"/>
                </a:solidFill>
                <a:latin typeface="Arial"/>
              </a:defRPr>
            </a:pPr>
            <a:r>
              <a:t>0.00%</a:t>
            </a:r>
          </a:p>
          <a:p>
            <a:pPr algn="ctr">
              <a:spcBef>
                <a:spcPts val="400"/>
              </a:spcBef>
              <a:defRPr sz="1200" b="1">
                <a:solidFill>
                  <a:srgbClr val="0F172A"/>
                </a:solidFill>
                <a:latin typeface="Arial"/>
              </a:defRPr>
            </a:pPr>
            <a:r>
              <a:t>Donor Deficit Incurred</a:t>
            </a:r>
          </a:p>
          <a:p>
            <a:pPr algn="ctr">
              <a:spcBef>
                <a:spcPts val="200"/>
              </a:spcBef>
              <a:defRPr sz="1050">
                <a:solidFill>
                  <a:srgbClr val="64748B"/>
                </a:solidFill>
                <a:latin typeface="Arial"/>
              </a:defRPr>
            </a:pPr>
            <a:r>
              <a:t>100% preservation of safety buffers in 10,000 runs.</a:t>
            </a:r>
          </a:p>
        </p:txBody>
      </p:sp>
      <p:sp>
        <p:nvSpPr>
          <p:cNvPr id="9" name="Rounded Rectangle 8"/>
          <p:cNvSpPr/>
          <p:nvPr/>
        </p:nvSpPr>
        <p:spPr>
          <a:xfrm>
            <a:off x="8933688" y="1920240"/>
            <a:ext cx="2514600" cy="21031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3600" b="1">
                <a:solidFill>
                  <a:srgbClr val="D97706"/>
                </a:solidFill>
                <a:latin typeface="Arial"/>
              </a:defRPr>
            </a:pPr>
            <a:r>
              <a:t>33</a:t>
            </a:r>
          </a:p>
          <a:p>
            <a:pPr algn="ctr">
              <a:spcBef>
                <a:spcPts val="400"/>
              </a:spcBef>
              <a:defRPr sz="1200" b="1">
                <a:solidFill>
                  <a:srgbClr val="0F172A"/>
                </a:solidFill>
                <a:latin typeface="Arial"/>
              </a:defRPr>
            </a:pPr>
            <a:r>
              <a:t>Sentinel Facilities Validated</a:t>
            </a:r>
          </a:p>
          <a:p>
            <a:pPr algn="ctr">
              <a:spcBef>
                <a:spcPts val="200"/>
              </a:spcBef>
              <a:defRPr sz="1050">
                <a:solidFill>
                  <a:srgbClr val="64748B"/>
                </a:solidFill>
                <a:latin typeface="Arial"/>
              </a:defRPr>
            </a:pPr>
            <a:r>
              <a:t>Across rural Bihar, UP, and Maharashtra.</a:t>
            </a:r>
          </a:p>
        </p:txBody>
      </p:sp>
      <p:sp>
        <p:nvSpPr>
          <p:cNvPr id="10" name="Rounded Rectangle 9"/>
          <p:cNvSpPr/>
          <p:nvPr/>
        </p:nvSpPr>
        <p:spPr>
          <a:xfrm>
            <a:off x="731520" y="4297680"/>
            <a:ext cx="10728655" cy="1737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400"/>
              </a:spcBef>
              <a:defRPr sz="1300" b="1">
                <a:solidFill>
                  <a:srgbClr val="1D4ED8"/>
                </a:solidFill>
                <a:latin typeface="Consolas"/>
              </a:defRPr>
            </a:pPr>
            <a:r>
              <a:rPr dirty="0"/>
              <a:t>BEFORE VS. AFTER SWASTHYAGRID AI</a:t>
            </a:r>
            <a:endParaRPr lang="en-US" dirty="0"/>
          </a:p>
          <a:p>
            <a:pPr algn="ctr">
              <a:spcBef>
                <a:spcPts val="400"/>
              </a:spcBef>
              <a:defRPr sz="1300" b="1">
                <a:solidFill>
                  <a:srgbClr val="1D4ED8"/>
                </a:solidFill>
                <a:latin typeface="Consolas"/>
              </a:defRPr>
            </a:pPr>
            <a:endParaRPr dirty="0"/>
          </a:p>
          <a:p>
            <a:pPr>
              <a:spcBef>
                <a:spcPts val="800"/>
              </a:spcBef>
              <a:defRPr sz="1200">
                <a:solidFill>
                  <a:srgbClr val="DC2626"/>
                </a:solidFill>
                <a:latin typeface="Arial"/>
              </a:defRPr>
            </a:pPr>
            <a:r>
              <a:rPr dirty="0"/>
              <a:t>• Traditional Paper/Manual Process: 4 to 6 Days Response Window  •  42% Stockout Rate During Outbreaks  •  Siloed Telemetry</a:t>
            </a:r>
          </a:p>
          <a:p>
            <a:pPr>
              <a:spcBef>
                <a:spcPts val="600"/>
              </a:spcBef>
              <a:defRPr sz="1200" b="1">
                <a:solidFill>
                  <a:srgbClr val="059669"/>
                </a:solidFill>
                <a:latin typeface="Arial"/>
              </a:defRPr>
            </a:pPr>
            <a:r>
              <a:rPr dirty="0"/>
              <a:t>• </a:t>
            </a:r>
            <a:r>
              <a:rPr dirty="0" err="1"/>
              <a:t>SwasthyaGrid</a:t>
            </a:r>
            <a:r>
              <a:rPr dirty="0"/>
              <a:t> Autonomous Resilience: &lt; 2 Hours Automated Route  •  &lt; 4% Stockout Rate  •  Google OR-Tools Zero Deficit Guarantee</a:t>
            </a:r>
          </a:p>
        </p:txBody>
      </p:sp>
      <p:sp>
        <p:nvSpPr>
          <p:cNvPr id="11" name="Rectangle 10"/>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10 of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47472"/>
            <a:ext cx="4114800" cy="310896"/>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D4ED8"/>
                </a:solidFill>
                <a:latin typeface="Consolas"/>
              </a:defRPr>
            </a:pPr>
            <a:r>
              <a:t>11 / DEPLOYMENT ROADMAP</a:t>
            </a:r>
          </a:p>
        </p:txBody>
      </p:sp>
      <p:sp>
        <p:nvSpPr>
          <p:cNvPr id="4" name="TextBox 3"/>
          <p:cNvSpPr txBox="1"/>
          <p:nvPr/>
        </p:nvSpPr>
        <p:spPr>
          <a:xfrm>
            <a:off x="731520" y="713232"/>
            <a:ext cx="10728655" cy="594360"/>
          </a:xfrm>
          <a:prstGeom prst="rect">
            <a:avLst/>
          </a:prstGeom>
          <a:noFill/>
        </p:spPr>
        <p:txBody>
          <a:bodyPr wrap="square">
            <a:spAutoFit/>
          </a:bodyPr>
          <a:lstStyle/>
          <a:p>
            <a:pPr>
              <a:defRPr sz="2400" b="1">
                <a:solidFill>
                  <a:srgbClr val="0F172A"/>
                </a:solidFill>
                <a:latin typeface="Arial"/>
              </a:defRPr>
            </a:pPr>
            <a:r>
              <a:t>From Sentinel Prototype to Pan-India Public Health Grid</a:t>
            </a:r>
          </a:p>
        </p:txBody>
      </p:sp>
      <p:sp>
        <p:nvSpPr>
          <p:cNvPr id="5" name="TextBox 4"/>
          <p:cNvSpPr txBox="1"/>
          <p:nvPr/>
        </p:nvSpPr>
        <p:spPr>
          <a:xfrm>
            <a:off x="731520" y="1298448"/>
            <a:ext cx="10728655" cy="365760"/>
          </a:xfrm>
          <a:prstGeom prst="rect">
            <a:avLst/>
          </a:prstGeom>
          <a:noFill/>
        </p:spPr>
        <p:txBody>
          <a:bodyPr wrap="square">
            <a:spAutoFit/>
          </a:bodyPr>
          <a:lstStyle/>
          <a:p>
            <a:pPr>
              <a:defRPr sz="1300">
                <a:solidFill>
                  <a:srgbClr val="64748B"/>
                </a:solidFill>
                <a:latin typeface="Arial"/>
              </a:defRPr>
            </a:pPr>
            <a:r>
              <a:t>Architected for frictionless national integration with National Health Mission (NHM) and ABDM.</a:t>
            </a:r>
          </a:p>
        </p:txBody>
      </p:sp>
      <p:sp>
        <p:nvSpPr>
          <p:cNvPr id="6" name="Rounded Rectangle 5"/>
          <p:cNvSpPr/>
          <p:nvPr/>
        </p:nvSpPr>
        <p:spPr>
          <a:xfrm>
            <a:off x="731520" y="1920240"/>
            <a:ext cx="3383280" cy="3291840"/>
          </a:xfrm>
          <a:prstGeom prst="roundRect">
            <a:avLst/>
          </a:prstGeom>
          <a:solidFill>
            <a:srgbClr val="FFFFFF"/>
          </a:solidFill>
          <a:ln w="19050">
            <a:solidFill>
              <a:srgbClr val="0891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100" b="1">
                <a:solidFill>
                  <a:srgbClr val="0891B2"/>
                </a:solidFill>
                <a:latin typeface="Consolas"/>
              </a:defRPr>
            </a:pPr>
            <a:r>
              <a:rPr sz="1400" dirty="0"/>
              <a:t>PHASE 1 • COMPLETED</a:t>
            </a:r>
            <a:endParaRPr lang="en-US" sz="1400" dirty="0"/>
          </a:p>
          <a:p>
            <a:pPr algn="ctr">
              <a:spcBef>
                <a:spcPts val="800"/>
              </a:spcBef>
              <a:defRPr sz="1100" b="1">
                <a:solidFill>
                  <a:srgbClr val="0891B2"/>
                </a:solidFill>
                <a:latin typeface="Consolas"/>
              </a:defRPr>
            </a:pPr>
            <a:endParaRPr dirty="0"/>
          </a:p>
          <a:p>
            <a:pPr>
              <a:spcBef>
                <a:spcPts val="400"/>
              </a:spcBef>
              <a:defRPr sz="1400" b="1">
                <a:solidFill>
                  <a:srgbClr val="0F172A"/>
                </a:solidFill>
                <a:latin typeface="Arial"/>
              </a:defRPr>
            </a:pPr>
            <a:r>
              <a:rPr sz="1600" dirty="0"/>
              <a:t>Sentinel AI Prototype</a:t>
            </a:r>
            <a:endParaRPr lang="en-US" sz="1600" dirty="0"/>
          </a:p>
          <a:p>
            <a:pPr>
              <a:spcBef>
                <a:spcPts val="400"/>
              </a:spcBef>
              <a:defRPr sz="1400" b="1">
                <a:solidFill>
                  <a:srgbClr val="0F172A"/>
                </a:solidFill>
                <a:latin typeface="Arial"/>
              </a:defRPr>
            </a:pPr>
            <a:endParaRPr dirty="0"/>
          </a:p>
          <a:p>
            <a:pPr>
              <a:spcBef>
                <a:spcPts val="600"/>
              </a:spcBef>
              <a:defRPr sz="1100">
                <a:solidFill>
                  <a:srgbClr val="1E293B"/>
                </a:solidFill>
                <a:latin typeface="Arial"/>
              </a:defRPr>
            </a:pPr>
            <a:r>
              <a:rPr dirty="0"/>
              <a:t>•  33 Sentinel facilities in Bihar, UP, Maharashtra.</a:t>
            </a:r>
          </a:p>
          <a:p>
            <a:pPr>
              <a:spcBef>
                <a:spcPts val="600"/>
              </a:spcBef>
              <a:defRPr sz="1100">
                <a:solidFill>
                  <a:srgbClr val="1E293B"/>
                </a:solidFill>
                <a:latin typeface="Arial"/>
              </a:defRPr>
            </a:pPr>
            <a:r>
              <a:rPr dirty="0"/>
              <a:t>•  Ridge/</a:t>
            </a:r>
            <a:r>
              <a:rPr dirty="0" err="1"/>
              <a:t>LightGBM</a:t>
            </a:r>
            <a:r>
              <a:rPr dirty="0"/>
              <a:t> multi-horizon demand ML.</a:t>
            </a:r>
          </a:p>
          <a:p>
            <a:pPr>
              <a:spcBef>
                <a:spcPts val="600"/>
              </a:spcBef>
              <a:defRPr sz="1100">
                <a:solidFill>
                  <a:srgbClr val="1E293B"/>
                </a:solidFill>
                <a:latin typeface="Arial"/>
              </a:defRPr>
            </a:pPr>
            <a:r>
              <a:rPr dirty="0"/>
              <a:t>•  Google OR-Tools MILP logistics solver.</a:t>
            </a:r>
          </a:p>
          <a:p>
            <a:pPr>
              <a:spcBef>
                <a:spcPts val="600"/>
              </a:spcBef>
              <a:defRPr sz="1100">
                <a:solidFill>
                  <a:srgbClr val="1E293B"/>
                </a:solidFill>
                <a:latin typeface="Arial"/>
              </a:defRPr>
            </a:pPr>
            <a:r>
              <a:rPr dirty="0"/>
              <a:t>•  Grounded Gemini 2.5 Flash Operations Copilot.</a:t>
            </a:r>
          </a:p>
        </p:txBody>
      </p:sp>
      <p:sp>
        <p:nvSpPr>
          <p:cNvPr id="7" name="Rounded Rectangle 6"/>
          <p:cNvSpPr/>
          <p:nvPr/>
        </p:nvSpPr>
        <p:spPr>
          <a:xfrm>
            <a:off x="4389120" y="1920240"/>
            <a:ext cx="3383280" cy="329184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100" b="1">
                <a:solidFill>
                  <a:srgbClr val="1D4ED8"/>
                </a:solidFill>
                <a:latin typeface="Consolas"/>
              </a:defRPr>
            </a:pPr>
            <a:r>
              <a:rPr sz="1400" dirty="0"/>
              <a:t>PHASE 2 • Q3 2026</a:t>
            </a:r>
            <a:endParaRPr lang="en-US" sz="1400" dirty="0"/>
          </a:p>
          <a:p>
            <a:pPr algn="ctr">
              <a:spcBef>
                <a:spcPts val="800"/>
              </a:spcBef>
              <a:defRPr sz="1100" b="1">
                <a:solidFill>
                  <a:srgbClr val="1D4ED8"/>
                </a:solidFill>
                <a:latin typeface="Consolas"/>
              </a:defRPr>
            </a:pPr>
            <a:endParaRPr dirty="0"/>
          </a:p>
          <a:p>
            <a:pPr>
              <a:spcBef>
                <a:spcPts val="400"/>
              </a:spcBef>
              <a:defRPr sz="1400" b="1">
                <a:solidFill>
                  <a:srgbClr val="0F172A"/>
                </a:solidFill>
                <a:latin typeface="Arial"/>
              </a:defRPr>
            </a:pPr>
            <a:r>
              <a:rPr sz="1600" dirty="0"/>
              <a:t>ABDM &amp; e-</a:t>
            </a:r>
            <a:r>
              <a:rPr sz="1600" dirty="0" err="1"/>
              <a:t>Aushadhi</a:t>
            </a:r>
            <a:r>
              <a:rPr sz="1600" dirty="0"/>
              <a:t> Connectors</a:t>
            </a:r>
            <a:endParaRPr lang="en-US" sz="1600" dirty="0"/>
          </a:p>
          <a:p>
            <a:pPr>
              <a:spcBef>
                <a:spcPts val="400"/>
              </a:spcBef>
              <a:defRPr sz="1400" b="1">
                <a:solidFill>
                  <a:srgbClr val="0F172A"/>
                </a:solidFill>
                <a:latin typeface="Arial"/>
              </a:defRPr>
            </a:pPr>
            <a:endParaRPr dirty="0"/>
          </a:p>
          <a:p>
            <a:pPr>
              <a:spcBef>
                <a:spcPts val="600"/>
              </a:spcBef>
              <a:defRPr sz="1100">
                <a:solidFill>
                  <a:srgbClr val="1E293B"/>
                </a:solidFill>
                <a:latin typeface="Arial"/>
              </a:defRPr>
            </a:pPr>
            <a:r>
              <a:rPr dirty="0"/>
              <a:t>•  Direct API connectors to DVDMS / e-</a:t>
            </a:r>
            <a:r>
              <a:rPr dirty="0" err="1"/>
              <a:t>Aushadhi</a:t>
            </a:r>
            <a:r>
              <a:rPr dirty="0"/>
              <a:t> portals.</a:t>
            </a:r>
          </a:p>
          <a:p>
            <a:pPr>
              <a:spcBef>
                <a:spcPts val="600"/>
              </a:spcBef>
              <a:defRPr sz="1100">
                <a:solidFill>
                  <a:srgbClr val="1E293B"/>
                </a:solidFill>
                <a:latin typeface="Arial"/>
              </a:defRPr>
            </a:pPr>
            <a:r>
              <a:rPr dirty="0"/>
              <a:t>•  Ayushman Bharat Health Facility Registry (HFR) sync.</a:t>
            </a:r>
          </a:p>
          <a:p>
            <a:pPr>
              <a:spcBef>
                <a:spcPts val="600"/>
              </a:spcBef>
              <a:defRPr sz="1100">
                <a:solidFill>
                  <a:srgbClr val="1E293B"/>
                </a:solidFill>
                <a:latin typeface="Arial"/>
              </a:defRPr>
            </a:pPr>
            <a:r>
              <a:rPr dirty="0"/>
              <a:t>•  Automated WhatsApp/SMS alerts to PHC doctors.</a:t>
            </a:r>
          </a:p>
          <a:p>
            <a:pPr>
              <a:spcBef>
                <a:spcPts val="600"/>
              </a:spcBef>
              <a:defRPr sz="1100">
                <a:solidFill>
                  <a:srgbClr val="1E293B"/>
                </a:solidFill>
                <a:latin typeface="Arial"/>
              </a:defRPr>
            </a:pPr>
            <a:r>
              <a:rPr dirty="0"/>
              <a:t>•  Expansion to 1,000 clinics in flood-prone districts.</a:t>
            </a:r>
          </a:p>
        </p:txBody>
      </p:sp>
      <p:sp>
        <p:nvSpPr>
          <p:cNvPr id="8" name="Rounded Rectangle 7"/>
          <p:cNvSpPr/>
          <p:nvPr/>
        </p:nvSpPr>
        <p:spPr>
          <a:xfrm>
            <a:off x="8046720" y="1920240"/>
            <a:ext cx="3383280" cy="32918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800"/>
              </a:spcBef>
              <a:defRPr sz="1100" b="1">
                <a:solidFill>
                  <a:srgbClr val="7C3AED"/>
                </a:solidFill>
                <a:latin typeface="Consolas"/>
              </a:defRPr>
            </a:pPr>
            <a:r>
              <a:rPr sz="1400" dirty="0"/>
              <a:t>PHASE 3 • 2027</a:t>
            </a:r>
            <a:endParaRPr lang="en-US" sz="1400" dirty="0"/>
          </a:p>
          <a:p>
            <a:pPr algn="ctr">
              <a:spcBef>
                <a:spcPts val="800"/>
              </a:spcBef>
              <a:defRPr sz="1100" b="1">
                <a:solidFill>
                  <a:srgbClr val="7C3AED"/>
                </a:solidFill>
                <a:latin typeface="Consolas"/>
              </a:defRPr>
            </a:pPr>
            <a:endParaRPr dirty="0"/>
          </a:p>
          <a:p>
            <a:pPr>
              <a:spcBef>
                <a:spcPts val="400"/>
              </a:spcBef>
              <a:defRPr sz="1400" b="1">
                <a:solidFill>
                  <a:srgbClr val="0F172A"/>
                </a:solidFill>
                <a:latin typeface="Arial"/>
              </a:defRPr>
            </a:pPr>
            <a:r>
              <a:rPr sz="1600" dirty="0"/>
              <a:t>Pan-India National Grid</a:t>
            </a:r>
            <a:endParaRPr lang="en-US" sz="1600" dirty="0"/>
          </a:p>
          <a:p>
            <a:pPr>
              <a:spcBef>
                <a:spcPts val="400"/>
              </a:spcBef>
              <a:defRPr sz="1400" b="1">
                <a:solidFill>
                  <a:srgbClr val="0F172A"/>
                </a:solidFill>
                <a:latin typeface="Arial"/>
              </a:defRPr>
            </a:pPr>
            <a:endParaRPr dirty="0"/>
          </a:p>
          <a:p>
            <a:pPr>
              <a:spcBef>
                <a:spcPts val="600"/>
              </a:spcBef>
              <a:defRPr sz="1100">
                <a:solidFill>
                  <a:srgbClr val="1E293B"/>
                </a:solidFill>
                <a:latin typeface="Arial"/>
              </a:defRPr>
            </a:pPr>
            <a:r>
              <a:rPr dirty="0"/>
              <a:t>•  National rollout across 30,000+ PHCs in 36 States/UTs.</a:t>
            </a:r>
          </a:p>
          <a:p>
            <a:pPr>
              <a:spcBef>
                <a:spcPts val="600"/>
              </a:spcBef>
              <a:defRPr sz="1100">
                <a:solidFill>
                  <a:srgbClr val="1E293B"/>
                </a:solidFill>
                <a:latin typeface="Arial"/>
              </a:defRPr>
            </a:pPr>
            <a:r>
              <a:rPr dirty="0"/>
              <a:t>•  Drone logistics dispatch for isolated tribal clinics.</a:t>
            </a:r>
          </a:p>
          <a:p>
            <a:pPr>
              <a:spcBef>
                <a:spcPts val="600"/>
              </a:spcBef>
              <a:defRPr sz="1100">
                <a:solidFill>
                  <a:srgbClr val="1E293B"/>
                </a:solidFill>
                <a:latin typeface="Arial"/>
              </a:defRPr>
            </a:pPr>
            <a:r>
              <a:rPr dirty="0"/>
              <a:t>•  Epidemic early-warning meteorological radar.</a:t>
            </a:r>
          </a:p>
          <a:p>
            <a:pPr>
              <a:spcBef>
                <a:spcPts val="600"/>
              </a:spcBef>
              <a:defRPr sz="1100">
                <a:solidFill>
                  <a:srgbClr val="1E293B"/>
                </a:solidFill>
                <a:latin typeface="Arial"/>
              </a:defRPr>
            </a:pPr>
            <a:r>
              <a:rPr dirty="0"/>
              <a:t>•  Real-time vaccine cold-chain IoT integration.</a:t>
            </a:r>
          </a:p>
        </p:txBody>
      </p:sp>
      <p:sp>
        <p:nvSpPr>
          <p:cNvPr id="9" name="Rounded Rectangle 8"/>
          <p:cNvSpPr/>
          <p:nvPr/>
        </p:nvSpPr>
        <p:spPr>
          <a:xfrm>
            <a:off x="731520" y="5394960"/>
            <a:ext cx="10728655" cy="777240"/>
          </a:xfrm>
          <a:prstGeom prst="roundRect">
            <a:avLst/>
          </a:prstGeom>
          <a:solidFill>
            <a:srgbClr val="F0FDFA"/>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91B2"/>
                </a:solidFill>
                <a:latin typeface="Arial"/>
              </a:defRPr>
            </a:pPr>
            <a:r>
              <a:rPr dirty="0"/>
              <a:t>'How does </a:t>
            </a:r>
            <a:r>
              <a:rPr dirty="0" err="1"/>
              <a:t>SwasthyaGrid</a:t>
            </a:r>
            <a:r>
              <a:rPr dirty="0"/>
              <a:t> handle intermittent rural internet connectivity?'</a:t>
            </a:r>
            <a:endParaRPr lang="en-IN" dirty="0"/>
          </a:p>
          <a:p>
            <a:pPr>
              <a:spcBef>
                <a:spcPts val="200"/>
              </a:spcBef>
              <a:defRPr sz="1100">
                <a:solidFill>
                  <a:srgbClr val="1E293B"/>
                </a:solidFill>
                <a:latin typeface="Arial"/>
              </a:defRPr>
            </a:pPr>
            <a:r>
              <a:rPr lang="en-IN" dirty="0"/>
              <a:t>Answer: Aggressive ServiceWorker offline caching. PHC workers log dispensing records offline; the system syncs delta batches via compressed background HTTP payloads or SMS gateway fallback upon reconnection.</a:t>
            </a:r>
          </a:p>
        </p:txBody>
      </p:sp>
      <p:sp>
        <p:nvSpPr>
          <p:cNvPr id="10" name="Rectangle 9"/>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11 of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46704" y="731520"/>
            <a:ext cx="5486400" cy="384048"/>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9669"/>
                </a:solidFill>
                <a:latin typeface="Consolas"/>
              </a:defRPr>
            </a:pPr>
            <a:r>
              <a:rPr dirty="0"/>
              <a:t> </a:t>
            </a:r>
            <a:r>
              <a:rPr lang="en-US" dirty="0"/>
              <a:t>Build with Ai </a:t>
            </a:r>
            <a:r>
              <a:rPr dirty="0"/>
              <a:t>HACKATHON 2026 • SUMMARY &amp; CONCLUSION</a:t>
            </a:r>
          </a:p>
        </p:txBody>
      </p:sp>
      <p:sp>
        <p:nvSpPr>
          <p:cNvPr id="4" name="TextBox 3"/>
          <p:cNvSpPr txBox="1"/>
          <p:nvPr/>
        </p:nvSpPr>
        <p:spPr>
          <a:xfrm>
            <a:off x="914400" y="1280160"/>
            <a:ext cx="10362895" cy="914400"/>
          </a:xfrm>
          <a:prstGeom prst="rect">
            <a:avLst/>
          </a:prstGeom>
          <a:noFill/>
        </p:spPr>
        <p:txBody>
          <a:bodyPr wrap="none">
            <a:spAutoFit/>
          </a:bodyPr>
          <a:lstStyle/>
          <a:p>
            <a:pPr algn="ctr">
              <a:defRPr sz="4000" b="1">
                <a:solidFill>
                  <a:srgbClr val="0F172A"/>
                </a:solidFill>
                <a:latin typeface="Arial"/>
              </a:defRPr>
            </a:pPr>
            <a:r>
              <a:t>Saving Lives Before Shelves Run Empty.</a:t>
            </a:r>
          </a:p>
        </p:txBody>
      </p:sp>
      <p:sp>
        <p:nvSpPr>
          <p:cNvPr id="5" name="TextBox 4"/>
          <p:cNvSpPr txBox="1"/>
          <p:nvPr/>
        </p:nvSpPr>
        <p:spPr>
          <a:xfrm>
            <a:off x="1371600" y="2194560"/>
            <a:ext cx="9448495" cy="584775"/>
          </a:xfrm>
          <a:prstGeom prst="rect">
            <a:avLst/>
          </a:prstGeom>
          <a:noFill/>
        </p:spPr>
        <p:txBody>
          <a:bodyPr wrap="square">
            <a:spAutoFit/>
          </a:bodyPr>
          <a:lstStyle/>
          <a:p>
            <a:pPr algn="ctr">
              <a:defRPr sz="1600">
                <a:solidFill>
                  <a:srgbClr val="334155"/>
                </a:solidFill>
                <a:latin typeface="Arial"/>
              </a:defRPr>
            </a:pPr>
            <a:r>
              <a:rPr dirty="0" err="1"/>
              <a:t>SwasthyaGrid</a:t>
            </a:r>
            <a:r>
              <a:rPr dirty="0"/>
              <a:t> AI transforms India's public health logistics from a blind, reactive panic into an autonomous, predictive resilience grid powered by Google Cloud.</a:t>
            </a:r>
          </a:p>
        </p:txBody>
      </p:sp>
      <p:sp>
        <p:nvSpPr>
          <p:cNvPr id="6" name="Rounded Rectangle 5"/>
          <p:cNvSpPr/>
          <p:nvPr/>
        </p:nvSpPr>
        <p:spPr>
          <a:xfrm>
            <a:off x="731520" y="3244950"/>
            <a:ext cx="2468880" cy="137160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400"/>
              </a:spcBef>
              <a:defRPr sz="1500" b="1">
                <a:solidFill>
                  <a:srgbClr val="1D4ED8"/>
                </a:solidFill>
                <a:latin typeface="Arial"/>
              </a:defRPr>
            </a:pPr>
            <a:r>
              <a:t>Predictive Precision</a:t>
            </a:r>
          </a:p>
          <a:p>
            <a:pPr algn="ctr">
              <a:spcBef>
                <a:spcPts val="400"/>
              </a:spcBef>
              <a:defRPr sz="1100">
                <a:solidFill>
                  <a:srgbClr val="64748B"/>
                </a:solidFill>
                <a:latin typeface="Arial"/>
              </a:defRPr>
            </a:pPr>
            <a:r>
              <a:t>+51.7% MAE Accuracy Gain</a:t>
            </a:r>
          </a:p>
        </p:txBody>
      </p:sp>
      <p:sp>
        <p:nvSpPr>
          <p:cNvPr id="7" name="Rounded Rectangle 6"/>
          <p:cNvSpPr/>
          <p:nvPr/>
        </p:nvSpPr>
        <p:spPr>
          <a:xfrm>
            <a:off x="3419856" y="3244950"/>
            <a:ext cx="2468880" cy="13716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400"/>
              </a:spcBef>
              <a:defRPr sz="1500" b="1">
                <a:solidFill>
                  <a:srgbClr val="059669"/>
                </a:solidFill>
                <a:latin typeface="Arial"/>
              </a:defRPr>
            </a:pPr>
            <a:r>
              <a:t>OR-Tools Logistics</a:t>
            </a:r>
          </a:p>
          <a:p>
            <a:pPr algn="ctr">
              <a:spcBef>
                <a:spcPts val="400"/>
              </a:spcBef>
              <a:defRPr sz="1100">
                <a:solidFill>
                  <a:srgbClr val="64748B"/>
                </a:solidFill>
                <a:latin typeface="Arial"/>
              </a:defRPr>
            </a:pPr>
            <a:r>
              <a:t>&lt; 45ms Sub-Second Solve</a:t>
            </a:r>
          </a:p>
        </p:txBody>
      </p:sp>
      <p:sp>
        <p:nvSpPr>
          <p:cNvPr id="8" name="Rounded Rectangle 7"/>
          <p:cNvSpPr/>
          <p:nvPr/>
        </p:nvSpPr>
        <p:spPr>
          <a:xfrm>
            <a:off x="6108192" y="3244950"/>
            <a:ext cx="2468880" cy="13716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400"/>
              </a:spcBef>
              <a:defRPr sz="1500" b="1">
                <a:solidFill>
                  <a:srgbClr val="7C3AED"/>
                </a:solidFill>
                <a:latin typeface="Arial"/>
              </a:defRPr>
            </a:pPr>
            <a:r>
              <a:t>Grounded Gemini 2.5</a:t>
            </a:r>
          </a:p>
          <a:p>
            <a:pPr algn="ctr">
              <a:spcBef>
                <a:spcPts val="400"/>
              </a:spcBef>
              <a:defRPr sz="1100">
                <a:solidFill>
                  <a:srgbClr val="64748B"/>
                </a:solidFill>
                <a:latin typeface="Arial"/>
              </a:defRPr>
            </a:pPr>
            <a:r>
              <a:t>10+ Python Tool Bindings</a:t>
            </a:r>
          </a:p>
        </p:txBody>
      </p:sp>
      <p:sp>
        <p:nvSpPr>
          <p:cNvPr id="9" name="Rounded Rectangle 8"/>
          <p:cNvSpPr/>
          <p:nvPr/>
        </p:nvSpPr>
        <p:spPr>
          <a:xfrm>
            <a:off x="8796528" y="3244950"/>
            <a:ext cx="246888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400"/>
              </a:spcBef>
              <a:defRPr sz="1500" b="1">
                <a:solidFill>
                  <a:srgbClr val="D97706"/>
                </a:solidFill>
                <a:latin typeface="Arial"/>
              </a:defRPr>
            </a:pPr>
            <a:r>
              <a:t>National Scalability</a:t>
            </a:r>
          </a:p>
          <a:p>
            <a:pPr algn="ctr">
              <a:spcBef>
                <a:spcPts val="400"/>
              </a:spcBef>
              <a:defRPr sz="1100">
                <a:solidFill>
                  <a:srgbClr val="64748B"/>
                </a:solidFill>
                <a:latin typeface="Arial"/>
              </a:defRPr>
            </a:pPr>
            <a:r>
              <a:t>MoHFW &amp; NLEM Provenance</a:t>
            </a:r>
          </a:p>
        </p:txBody>
      </p:sp>
      <p:sp>
        <p:nvSpPr>
          <p:cNvPr id="10" name="Rounded Rectangle 9"/>
          <p:cNvSpPr/>
          <p:nvPr/>
        </p:nvSpPr>
        <p:spPr>
          <a:xfrm>
            <a:off x="1828800" y="4914315"/>
            <a:ext cx="8534095" cy="73152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D4ED8"/>
                </a:solidFill>
                <a:latin typeface="Consolas"/>
              </a:defRPr>
            </a:pPr>
            <a:r>
              <a:t>LIVE GITHUB REPOSITORY:  https://github.com/2007Talha/HealthGrid.git</a:t>
            </a:r>
          </a:p>
          <a:p>
            <a:pPr algn="ctr">
              <a:spcBef>
                <a:spcPts val="200"/>
              </a:spcBef>
              <a:defRPr sz="1100">
                <a:solidFill>
                  <a:srgbClr val="64748B"/>
                </a:solidFill>
                <a:latin typeface="Arial"/>
              </a:defRPr>
            </a:pPr>
            <a:r>
              <a:t>GCP Project ID: arcadeaiagent  •  Region: asia-south1  •  Track 3: Smart Health &amp; Resilience</a:t>
            </a:r>
          </a:p>
        </p:txBody>
      </p:sp>
      <p:sp>
        <p:nvSpPr>
          <p:cNvPr id="11" name="TextBox 10"/>
          <p:cNvSpPr txBox="1"/>
          <p:nvPr/>
        </p:nvSpPr>
        <p:spPr>
          <a:xfrm>
            <a:off x="5143972" y="5877413"/>
            <a:ext cx="1891865" cy="461665"/>
          </a:xfrm>
          <a:prstGeom prst="rect">
            <a:avLst/>
          </a:prstGeom>
          <a:noFill/>
        </p:spPr>
        <p:txBody>
          <a:bodyPr wrap="none">
            <a:spAutoFit/>
          </a:bodyPr>
          <a:lstStyle/>
          <a:p>
            <a:pPr algn="ctr">
              <a:defRPr sz="1400" b="1">
                <a:solidFill>
                  <a:srgbClr val="D97706"/>
                </a:solidFill>
                <a:latin typeface="Arial"/>
              </a:defRPr>
            </a:pPr>
            <a:r>
              <a:rPr sz="2400" dirty="0"/>
              <a:t> </a:t>
            </a:r>
            <a:r>
              <a:rPr sz="2400" dirty="0">
                <a:solidFill>
                  <a:srgbClr val="FF0000"/>
                </a:solidFill>
              </a:rPr>
              <a:t>Thank you </a:t>
            </a:r>
          </a:p>
        </p:txBody>
      </p:sp>
      <p:sp>
        <p:nvSpPr>
          <p:cNvPr id="12" name="Rectangle 11"/>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0" y="6355080"/>
            <a:ext cx="1828800" cy="320040"/>
          </a:xfrm>
          <a:prstGeom prst="rect">
            <a:avLst/>
          </a:prstGeom>
          <a:noFill/>
        </p:spPr>
        <p:txBody>
          <a:bodyPr wrap="none">
            <a:spAutoFit/>
          </a:bodyPr>
          <a:lstStyle/>
          <a:p>
            <a:pPr algn="r">
              <a:defRPr sz="950" b="1">
                <a:solidFill>
                  <a:srgbClr val="1D4ED8"/>
                </a:solidFill>
                <a:latin typeface="Consolas"/>
              </a:defRPr>
            </a:pPr>
            <a:r>
              <a:t>Slide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3203</Words>
  <Application>Microsoft Office PowerPoint</Application>
  <PresentationFormat>Widescreen</PresentationFormat>
  <Paragraphs>316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Ugz Talha</cp:lastModifiedBy>
  <cp:revision>3</cp:revision>
  <dcterms:created xsi:type="dcterms:W3CDTF">2013-01-27T09:14:16Z</dcterms:created>
  <dcterms:modified xsi:type="dcterms:W3CDTF">2026-09-30T11:08:15Z</dcterms:modified>
  <cp:category/>
</cp:coreProperties>
</file>